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5"/>
  </p:notesMasterIdLst>
  <p:sldIdLst>
    <p:sldId id="482" r:id="rId2"/>
    <p:sldId id="601" r:id="rId3"/>
    <p:sldId id="60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FEC"/>
    <a:srgbClr val="666699"/>
    <a:srgbClr val="B74919"/>
    <a:srgbClr val="1D6FA9"/>
    <a:srgbClr val="FF66FF"/>
    <a:srgbClr val="FF9900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CB2F6B-1023-42D8-B91E-F11ED028246B}" v="3" dt="2026-06-29T01:58:22.639"/>
    <p1510:client id="{A9495083-A466-45D1-A6B4-660C0699BE96}" v="620" dt="2026-06-29T07:26:12.0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奨太 越智" userId="1e89b1c5ec8000ff" providerId="LiveId" clId="{C64DA74B-CE30-4CB4-AEC4-E35ED1190D6D}"/>
    <pc:docChg chg="undo custSel addSld delSld modSld sldOrd">
      <pc:chgData name="奨太 越智" userId="1e89b1c5ec8000ff" providerId="LiveId" clId="{C64DA74B-CE30-4CB4-AEC4-E35ED1190D6D}" dt="2026-06-29T07:26:12.068" v="617" actId="1076"/>
      <pc:docMkLst>
        <pc:docMk/>
      </pc:docMkLst>
      <pc:sldChg chg="modSp mod">
        <pc:chgData name="奨太 越智" userId="1e89b1c5ec8000ff" providerId="LiveId" clId="{C64DA74B-CE30-4CB4-AEC4-E35ED1190D6D}" dt="2026-06-29T02:35:51.963" v="209" actId="14100"/>
        <pc:sldMkLst>
          <pc:docMk/>
          <pc:sldMk cId="24665824" sldId="482"/>
        </pc:sldMkLst>
        <pc:spChg chg="mod">
          <ac:chgData name="奨太 越智" userId="1e89b1c5ec8000ff" providerId="LiveId" clId="{C64DA74B-CE30-4CB4-AEC4-E35ED1190D6D}" dt="2026-06-29T02:35:51.963" v="209" actId="14100"/>
          <ac:spMkLst>
            <pc:docMk/>
            <pc:sldMk cId="24665824" sldId="482"/>
            <ac:spMk id="2" creationId="{810D1CF6-E651-0DA2-50A7-DCDAD7CBC055}"/>
          </ac:spMkLst>
        </pc:spChg>
      </pc:sldChg>
      <pc:sldChg chg="del">
        <pc:chgData name="奨太 越智" userId="1e89b1c5ec8000ff" providerId="LiveId" clId="{C64DA74B-CE30-4CB4-AEC4-E35ED1190D6D}" dt="2026-06-29T04:59:34.139" v="475" actId="2696"/>
        <pc:sldMkLst>
          <pc:docMk/>
          <pc:sldMk cId="380560890" sldId="593"/>
        </pc:sldMkLst>
      </pc:sldChg>
      <pc:sldChg chg="addSp delSp modSp mod modNotesTx">
        <pc:chgData name="奨太 越智" userId="1e89b1c5ec8000ff" providerId="LiveId" clId="{C64DA74B-CE30-4CB4-AEC4-E35ED1190D6D}" dt="2026-06-29T07:26:12.068" v="617" actId="1076"/>
        <pc:sldMkLst>
          <pc:docMk/>
          <pc:sldMk cId="3634238721" sldId="601"/>
        </pc:sldMkLst>
        <pc:spChg chg="mod">
          <ac:chgData name="奨太 越智" userId="1e89b1c5ec8000ff" providerId="LiveId" clId="{C64DA74B-CE30-4CB4-AEC4-E35ED1190D6D}" dt="2026-06-29T02:48:45.716" v="223"/>
          <ac:spMkLst>
            <pc:docMk/>
            <pc:sldMk cId="3634238721" sldId="601"/>
            <ac:spMk id="5" creationId="{24468EF8-6340-A5A8-CAC5-4B91BCBD2976}"/>
          </ac:spMkLst>
        </pc:spChg>
        <pc:spChg chg="add del mod">
          <ac:chgData name="奨太 越智" userId="1e89b1c5ec8000ff" providerId="LiveId" clId="{C64DA74B-CE30-4CB4-AEC4-E35ED1190D6D}" dt="2026-06-29T02:14:31.556" v="6" actId="478"/>
          <ac:spMkLst>
            <pc:docMk/>
            <pc:sldMk cId="3634238721" sldId="601"/>
            <ac:spMk id="10" creationId="{067FB530-419F-9D3F-BB76-3475DC2AB1CD}"/>
          </ac:spMkLst>
        </pc:spChg>
        <pc:spChg chg="add mod">
          <ac:chgData name="奨太 越智" userId="1e89b1c5ec8000ff" providerId="LiveId" clId="{C64DA74B-CE30-4CB4-AEC4-E35ED1190D6D}" dt="2026-06-29T05:41:56.656" v="493"/>
          <ac:spMkLst>
            <pc:docMk/>
            <pc:sldMk cId="3634238721" sldId="601"/>
            <ac:spMk id="11" creationId="{290B6354-F661-0B5D-71D8-B126B08E020D}"/>
          </ac:spMkLst>
        </pc:spChg>
        <pc:spChg chg="mod">
          <ac:chgData name="奨太 越智" userId="1e89b1c5ec8000ff" providerId="LiveId" clId="{C64DA74B-CE30-4CB4-AEC4-E35ED1190D6D}" dt="2026-06-29T02:24:32.849" v="154" actId="20577"/>
          <ac:spMkLst>
            <pc:docMk/>
            <pc:sldMk cId="3634238721" sldId="601"/>
            <ac:spMk id="101" creationId="{427D58BB-BA04-8BA1-37D2-4C3A9BDCF890}"/>
          </ac:spMkLst>
        </pc:spChg>
        <pc:spChg chg="mod">
          <ac:chgData name="奨太 越智" userId="1e89b1c5ec8000ff" providerId="LiveId" clId="{C64DA74B-CE30-4CB4-AEC4-E35ED1190D6D}" dt="2026-06-29T07:26:12.068" v="617" actId="1076"/>
          <ac:spMkLst>
            <pc:docMk/>
            <pc:sldMk cId="3634238721" sldId="601"/>
            <ac:spMk id="121" creationId="{102E4C2D-4002-A429-1068-B3A47BCB63C7}"/>
          </ac:spMkLst>
        </pc:spChg>
      </pc:sldChg>
      <pc:sldChg chg="modSp add mod ord">
        <pc:chgData name="奨太 越智" userId="1e89b1c5ec8000ff" providerId="LiveId" clId="{C64DA74B-CE30-4CB4-AEC4-E35ED1190D6D}" dt="2026-06-29T03:58:27.756" v="474" actId="20577"/>
        <pc:sldMkLst>
          <pc:docMk/>
          <pc:sldMk cId="1119406157" sldId="602"/>
        </pc:sldMkLst>
        <pc:spChg chg="mod">
          <ac:chgData name="奨太 越智" userId="1e89b1c5ec8000ff" providerId="LiveId" clId="{C64DA74B-CE30-4CB4-AEC4-E35ED1190D6D}" dt="2026-06-29T02:56:53.443" v="237" actId="20577"/>
          <ac:spMkLst>
            <pc:docMk/>
            <pc:sldMk cId="1119406157" sldId="602"/>
            <ac:spMk id="3" creationId="{D4013466-EEAA-77B5-370E-3CD9645E8F1F}"/>
          </ac:spMkLst>
        </pc:spChg>
        <pc:spChg chg="mod">
          <ac:chgData name="奨太 越智" userId="1e89b1c5ec8000ff" providerId="LiveId" clId="{C64DA74B-CE30-4CB4-AEC4-E35ED1190D6D}" dt="2026-06-29T03:58:27.756" v="474" actId="20577"/>
          <ac:spMkLst>
            <pc:docMk/>
            <pc:sldMk cId="1119406157" sldId="602"/>
            <ac:spMk id="5" creationId="{AC3B1379-165D-732C-7739-6D2AD260361E}"/>
          </ac:spMkLst>
        </pc:spChg>
      </pc:sldChg>
      <pc:sldChg chg="add del ord">
        <pc:chgData name="奨太 越智" userId="1e89b1c5ec8000ff" providerId="LiveId" clId="{C64DA74B-CE30-4CB4-AEC4-E35ED1190D6D}" dt="2026-06-29T02:56:46.306" v="227" actId="47"/>
        <pc:sldMkLst>
          <pc:docMk/>
          <pc:sldMk cId="2900960266" sldId="602"/>
        </pc:sldMkLst>
      </pc:sldChg>
    </pc:docChg>
  </pc:docChgLst>
  <pc:docChgLst>
    <pc:chgData name="光祐 細谷" userId="ccefac287634e7ae" providerId="LiveId" clId="{2823C5D7-E6D8-4347-B937-18D16A464D7D}"/>
    <pc:docChg chg="modSld">
      <pc:chgData name="光祐 細谷" userId="ccefac287634e7ae" providerId="LiveId" clId="{2823C5D7-E6D8-4347-B937-18D16A464D7D}" dt="2026-06-29T01:59:42.805" v="63" actId="20577"/>
      <pc:docMkLst>
        <pc:docMk/>
      </pc:docMkLst>
      <pc:sldChg chg="modSp mod">
        <pc:chgData name="光祐 細谷" userId="ccefac287634e7ae" providerId="LiveId" clId="{2823C5D7-E6D8-4347-B937-18D16A464D7D}" dt="2026-06-29T01:59:42.805" v="63" actId="20577"/>
        <pc:sldMkLst>
          <pc:docMk/>
          <pc:sldMk cId="380560890" sldId="593"/>
        </pc:sldMkLst>
        <pc:spChg chg="mod">
          <ac:chgData name="光祐 細谷" userId="ccefac287634e7ae" providerId="LiveId" clId="{2823C5D7-E6D8-4347-B937-18D16A464D7D}" dt="2026-06-29T01:59:42.805" v="63" actId="20577"/>
          <ac:spMkLst>
            <pc:docMk/>
            <pc:sldMk cId="380560890" sldId="593"/>
            <ac:spMk id="5" creationId="{BAFC8FB7-2982-CC80-95B7-3D8507A92A3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9F149-CCD5-443F-9FD8-9EA452A41F17}" type="datetimeFigureOut">
              <a:rPr kumimoji="1" lang="ja-JP" altLang="en-US" smtClean="0"/>
              <a:t>2026/6/29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C7B4F-6CD1-4F50-9794-AEAE748DD0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135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＜表紙＞</a:t>
            </a:r>
          </a:p>
          <a:p>
            <a:r>
              <a:rPr kumimoji="1" lang="ja-JP" altLang="en-US"/>
              <a:t>それでは、チーム</a:t>
            </a:r>
            <a:r>
              <a:rPr kumimoji="1" lang="en-US" altLang="ja-JP"/>
              <a:t>C</a:t>
            </a:r>
            <a:r>
              <a:rPr kumimoji="1" lang="ja-JP" altLang="en-US"/>
              <a:t>の発表を始めます。</a:t>
            </a:r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C7B4F-6CD1-4F50-9794-AEAE748DD0E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2424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＜概要＞</a:t>
            </a:r>
          </a:p>
          <a:p>
            <a:r>
              <a:rPr kumimoji="1" lang="ja-JP" altLang="en-US"/>
              <a:t>今回私たちが開発したものは、「スマホ連携型 保管設備管理システム」です。</a:t>
            </a:r>
          </a:p>
          <a:p>
            <a:r>
              <a:rPr kumimoji="1" lang="ja-JP" altLang="en-US"/>
              <a:t>スマホから保管設備に対して、入庫・出庫の搬送指示を行い、</a:t>
            </a:r>
          </a:p>
          <a:p>
            <a:r>
              <a:rPr kumimoji="1" lang="ja-JP" altLang="en-US"/>
              <a:t>設備状態・在庫状態・搬送指示状態を確認できるシステムです。</a:t>
            </a:r>
          </a:p>
          <a:p>
            <a:endParaRPr kumimoji="1" lang="ja-JP" altLang="en-US"/>
          </a:p>
          <a:p>
            <a:r>
              <a:rPr kumimoji="1" lang="ja-JP" altLang="en-US"/>
              <a:t>＜システム構成＞</a:t>
            </a:r>
          </a:p>
          <a:p>
            <a:r>
              <a:rPr kumimoji="1" lang="ja-JP" altLang="en-US"/>
              <a:t>システム構成は、スマホ</a:t>
            </a:r>
            <a:r>
              <a:rPr kumimoji="1" lang="en-US" altLang="ja-JP"/>
              <a:t>1</a:t>
            </a:r>
            <a:r>
              <a:rPr kumimoji="1" lang="ja-JP" altLang="en-US"/>
              <a:t>台、サーバー</a:t>
            </a:r>
            <a:r>
              <a:rPr kumimoji="1" lang="en-US" altLang="ja-JP"/>
              <a:t>1</a:t>
            </a:r>
            <a:r>
              <a:rPr kumimoji="1" lang="ja-JP" altLang="en-US"/>
              <a:t>台、保管設備</a:t>
            </a:r>
            <a:r>
              <a:rPr kumimoji="1" lang="en-US" altLang="ja-JP"/>
              <a:t>3</a:t>
            </a:r>
            <a:r>
              <a:rPr kumimoji="1" lang="ja-JP" altLang="en-US"/>
              <a:t>台の構成としています。</a:t>
            </a:r>
          </a:p>
          <a:p>
            <a:endParaRPr kumimoji="1" lang="ja-JP" altLang="en-US"/>
          </a:p>
          <a:p>
            <a:r>
              <a:rPr kumimoji="1" lang="ja-JP" altLang="en-US"/>
              <a:t>各保管設備には、搬送物であるキャリアを</a:t>
            </a:r>
            <a:r>
              <a:rPr kumimoji="1" lang="en-US" altLang="ja-JP"/>
              <a:t>1</a:t>
            </a:r>
            <a:r>
              <a:rPr kumimoji="1" lang="ja-JP" altLang="en-US"/>
              <a:t>つ保管できる棚を</a:t>
            </a:r>
            <a:r>
              <a:rPr kumimoji="1" lang="en-US" altLang="ja-JP"/>
              <a:t>6</a:t>
            </a:r>
            <a:r>
              <a:rPr kumimoji="1" lang="ja-JP" altLang="en-US"/>
              <a:t>か所設けています。</a:t>
            </a:r>
          </a:p>
          <a:p>
            <a:r>
              <a:rPr kumimoji="1" lang="ja-JP" altLang="en-US"/>
              <a:t>また、搬送ロボットを</a:t>
            </a:r>
            <a:r>
              <a:rPr kumimoji="1" lang="en-US" altLang="ja-JP"/>
              <a:t>1</a:t>
            </a:r>
            <a:r>
              <a:rPr kumimoji="1" lang="ja-JP" altLang="en-US"/>
              <a:t>台、入庫口と出庫口をそれぞれ</a:t>
            </a:r>
            <a:r>
              <a:rPr kumimoji="1" lang="en-US" altLang="ja-JP"/>
              <a:t>1</a:t>
            </a:r>
            <a:r>
              <a:rPr kumimoji="1" lang="ja-JP" altLang="en-US"/>
              <a:t>か所ずつ設けている想定です。</a:t>
            </a:r>
          </a:p>
          <a:p>
            <a:endParaRPr kumimoji="1" lang="ja-JP" altLang="en-US"/>
          </a:p>
          <a:p>
            <a:r>
              <a:rPr kumimoji="1" lang="ja-JP" altLang="en-US"/>
              <a:t>入庫口と出庫口では、搬送ロボットと人がキャリアの受け渡しを行います。</a:t>
            </a:r>
          </a:p>
          <a:p>
            <a:r>
              <a:rPr kumimoji="1" lang="ja-JP" altLang="en-US"/>
              <a:t>また、入庫口には</a:t>
            </a:r>
            <a:r>
              <a:rPr kumimoji="1" lang="en-US" altLang="ja-JP"/>
              <a:t>ID</a:t>
            </a:r>
            <a:r>
              <a:rPr kumimoji="1" lang="ja-JP" altLang="en-US"/>
              <a:t>リーダーがない想定としているため、</a:t>
            </a:r>
          </a:p>
          <a:p>
            <a:r>
              <a:rPr kumimoji="1" lang="ja-JP" altLang="en-US"/>
              <a:t>入庫時はスマホ画面から人がキャリアの</a:t>
            </a:r>
            <a:r>
              <a:rPr kumimoji="1" lang="en-US" altLang="ja-JP"/>
              <a:t>ID</a:t>
            </a:r>
            <a:r>
              <a:rPr kumimoji="1" lang="ja-JP" altLang="en-US"/>
              <a:t>を入力します。</a:t>
            </a:r>
          </a:p>
          <a:p>
            <a:endParaRPr kumimoji="1" lang="ja-JP" altLang="en-US"/>
          </a:p>
          <a:p>
            <a:r>
              <a:rPr kumimoji="1" lang="ja-JP" altLang="en-US"/>
              <a:t>＜機能説明＞</a:t>
            </a:r>
            <a:endParaRPr kumimoji="1" lang="en-US" altLang="ja-JP"/>
          </a:p>
          <a:p>
            <a:r>
              <a:rPr kumimoji="1" lang="ja-JP" altLang="en-US"/>
              <a:t>次に搬送指示機能の説明をします。</a:t>
            </a:r>
          </a:p>
          <a:p>
            <a:r>
              <a:rPr kumimoji="1" lang="ja-JP" altLang="en-US"/>
              <a:t>スマホから搬送指示を送信すると、その指示は一度サーバーで受け付けられます。</a:t>
            </a:r>
          </a:p>
          <a:p>
            <a:r>
              <a:rPr kumimoji="1" lang="ja-JP" altLang="en-US"/>
              <a:t>サーバーは搬送指示の状態を管理し、適切な順番・タイミングで対象設備へ指示を送信します。</a:t>
            </a:r>
          </a:p>
          <a:p>
            <a:endParaRPr kumimoji="1" lang="ja-JP" altLang="en-US"/>
          </a:p>
          <a:p>
            <a:r>
              <a:rPr kumimoji="1" lang="ja-JP" altLang="en-US"/>
              <a:t>設備で出庫が完了すると、キャリアは出庫口へ搬送されます。</a:t>
            </a:r>
          </a:p>
          <a:p>
            <a:r>
              <a:rPr kumimoji="1" lang="ja-JP" altLang="en-US"/>
              <a:t>その後、スマホ画面に払出対象として表示され、人がキャリアを取り出した後に、</a:t>
            </a:r>
          </a:p>
          <a:p>
            <a:r>
              <a:rPr kumimoji="1" lang="ja-JP" altLang="en-US"/>
              <a:t>スマホから払出完了ボタンを押します。</a:t>
            </a:r>
          </a:p>
          <a:p>
            <a:r>
              <a:rPr kumimoji="1" lang="ja-JP" altLang="en-US"/>
              <a:t>払出完了が報告されることで、設備は出庫口が空いたと判断し、</a:t>
            </a:r>
          </a:p>
          <a:p>
            <a:r>
              <a:rPr kumimoji="1" lang="ja-JP" altLang="en-US"/>
              <a:t>次の出庫動作ができるようになります。</a:t>
            </a:r>
          </a:p>
          <a:p>
            <a:endParaRPr kumimoji="1" lang="ja-JP" altLang="en-US"/>
          </a:p>
          <a:p>
            <a:r>
              <a:rPr kumimoji="1" lang="ja-JP" altLang="en-US"/>
              <a:t>また、設備はサーバーに対して、搬送指示の開始・完了、異常の発生・解除を報告します。</a:t>
            </a:r>
          </a:p>
          <a:p>
            <a:r>
              <a:rPr kumimoji="1" lang="ja-JP" altLang="en-US"/>
              <a:t>サーバーはそれらの報告をもとに、搬送指示、在庫、設備状態を管理しています。</a:t>
            </a:r>
          </a:p>
          <a:p>
            <a:r>
              <a:rPr kumimoji="1" lang="ja-JP" altLang="en-US"/>
              <a:t>スマホ画面では、サーバーから一定周期で最新情報を取得し、</a:t>
            </a:r>
          </a:p>
          <a:p>
            <a:r>
              <a:rPr kumimoji="1" lang="ja-JP" altLang="en-US"/>
              <a:t>設備状態・在庫状態・搬送指示状態を画面に反映しています。</a:t>
            </a:r>
          </a:p>
          <a:p>
            <a:endParaRPr kumimoji="1" lang="ja-JP" altLang="en-US"/>
          </a:p>
          <a:p>
            <a:r>
              <a:rPr kumimoji="1" lang="ja-JP" altLang="en-US"/>
              <a:t>＜デモへのつなぎ＞</a:t>
            </a:r>
          </a:p>
          <a:p>
            <a:r>
              <a:rPr kumimoji="1" lang="ja-JP" altLang="en-US"/>
              <a:t>それでは、実際の画面と動作の流れを説明します。</a:t>
            </a:r>
          </a:p>
          <a:p>
            <a:endParaRPr kumimoji="1" lang="ja-JP" altLang="en-US"/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C7B4F-6CD1-4F50-9794-AEAE748DD0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7487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C7B4F-6CD1-4F50-9794-AEAE748DD0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9471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1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4330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9337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1330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8370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365129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1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8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1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8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38763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9286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69167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91" y="987431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1"/>
            </a:lvl2pPr>
            <a:lvl3pPr marL="914446" indent="0">
              <a:buNone/>
              <a:defRPr sz="1200"/>
            </a:lvl3pPr>
            <a:lvl4pPr marL="1371669" indent="0">
              <a:buNone/>
              <a:defRPr sz="1001"/>
            </a:lvl4pPr>
            <a:lvl5pPr marL="1828891" indent="0">
              <a:buNone/>
              <a:defRPr sz="1001"/>
            </a:lvl5pPr>
            <a:lvl6pPr marL="2286114" indent="0">
              <a:buNone/>
              <a:defRPr sz="1001"/>
            </a:lvl6pPr>
            <a:lvl7pPr marL="2743338" indent="0">
              <a:buNone/>
              <a:defRPr sz="1001"/>
            </a:lvl7pPr>
            <a:lvl8pPr marL="3200560" indent="0">
              <a:buNone/>
              <a:defRPr sz="1001"/>
            </a:lvl8pPr>
            <a:lvl9pPr marL="3657783" indent="0">
              <a:buNone/>
              <a:defRPr sz="100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1532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1" y="987431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8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1"/>
            </a:lvl2pPr>
            <a:lvl3pPr marL="914446" indent="0">
              <a:buNone/>
              <a:defRPr sz="1200"/>
            </a:lvl3pPr>
            <a:lvl4pPr marL="1371669" indent="0">
              <a:buNone/>
              <a:defRPr sz="1001"/>
            </a:lvl4pPr>
            <a:lvl5pPr marL="1828891" indent="0">
              <a:buNone/>
              <a:defRPr sz="1001"/>
            </a:lvl5pPr>
            <a:lvl6pPr marL="2286114" indent="0">
              <a:buNone/>
              <a:defRPr sz="1001"/>
            </a:lvl6pPr>
            <a:lvl7pPr marL="2743338" indent="0">
              <a:buNone/>
              <a:defRPr sz="1001"/>
            </a:lvl7pPr>
            <a:lvl8pPr marL="3200560" indent="0">
              <a:buNone/>
              <a:defRPr sz="1001"/>
            </a:lvl8pPr>
            <a:lvl9pPr marL="3657783" indent="0">
              <a:buNone/>
              <a:defRPr sz="100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79784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9198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6387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657FD1-6261-C998-5430-3804F278F8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1" y="6356356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9299242-3F2D-F82E-1C35-02F6815A54C2}"/>
              </a:ext>
            </a:extLst>
          </p:cNvPr>
          <p:cNvSpPr>
            <a:spLocks noChangeArrowheads="1"/>
          </p:cNvSpPr>
          <p:nvPr userDrawn="1"/>
        </p:nvSpPr>
        <p:spPr bwMode="hidden">
          <a:xfrm>
            <a:off x="0" y="0"/>
            <a:ext cx="3960814" cy="6858000"/>
          </a:xfrm>
          <a:prstGeom prst="rect">
            <a:avLst/>
          </a:prstGeom>
          <a:gradFill rotWithShape="0">
            <a:gsLst>
              <a:gs pos="0">
                <a:srgbClr val="C7E3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lIns="100186" tIns="50094" rIns="100186" bIns="50094" anchor="ctr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1A1097AA-9D72-8E79-2976-35427D89F1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87402" y="3627242"/>
            <a:ext cx="1392874" cy="684893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8224D7B-1178-4274-62B8-A5825C77409A}"/>
              </a:ext>
            </a:extLst>
          </p:cNvPr>
          <p:cNvSpPr>
            <a:spLocks noChangeArrowheads="1"/>
          </p:cNvSpPr>
          <p:nvPr userDrawn="1"/>
        </p:nvSpPr>
        <p:spPr bwMode="hidden">
          <a:xfrm>
            <a:off x="2383843" y="1569540"/>
            <a:ext cx="9808161" cy="2742595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CDE807BF-D3F7-F209-00D5-0D826C06211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70120" y="1569534"/>
            <a:ext cx="694903" cy="695476"/>
          </a:xfrm>
          <a:prstGeom prst="rect">
            <a:avLst/>
          </a:prstGeom>
          <a:solidFill>
            <a:srgbClr val="B7DBBD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48A6D780-EC5E-52B5-1435-62F39F12BB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" y="1569534"/>
            <a:ext cx="696437" cy="695476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C701842-1293-D633-7CCC-285B47CE699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90969" y="2940837"/>
            <a:ext cx="696437" cy="689429"/>
          </a:xfrm>
          <a:prstGeom prst="rect">
            <a:avLst/>
          </a:prstGeom>
          <a:solidFill>
            <a:srgbClr val="DEFAE1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3" name="Rectangle 21">
            <a:extLst>
              <a:ext uri="{FF2B5EF4-FFF2-40B4-BE49-F238E27FC236}">
                <a16:creationId xmlns:a16="http://schemas.microsoft.com/office/drawing/2014/main" id="{7737C80C-B808-5010-A8F2-613F59C042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83843" y="2254433"/>
            <a:ext cx="687233" cy="686405"/>
          </a:xfrm>
          <a:prstGeom prst="rect">
            <a:avLst/>
          </a:prstGeom>
          <a:solidFill>
            <a:srgbClr val="B7DBBD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4" name="Rectangle 22">
            <a:extLst>
              <a:ext uri="{FF2B5EF4-FFF2-40B4-BE49-F238E27FC236}">
                <a16:creationId xmlns:a16="http://schemas.microsoft.com/office/drawing/2014/main" id="{5196467D-21B1-FAE8-45C3-9F48ECFCA5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87405" y="2940837"/>
            <a:ext cx="694903" cy="689429"/>
          </a:xfrm>
          <a:prstGeom prst="rect">
            <a:avLst/>
          </a:prstGeom>
          <a:solidFill>
            <a:srgbClr val="B7DBBD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5" name="Rectangle 23">
            <a:extLst>
              <a:ext uri="{FF2B5EF4-FFF2-40B4-BE49-F238E27FC236}">
                <a16:creationId xmlns:a16="http://schemas.microsoft.com/office/drawing/2014/main" id="{6465EF03-D1FA-3EE9-8181-DC2FD05F0A6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90969" y="3627242"/>
            <a:ext cx="696437" cy="684893"/>
          </a:xfrm>
          <a:prstGeom prst="rect">
            <a:avLst/>
          </a:prstGeom>
          <a:solidFill>
            <a:srgbClr val="B7DBBD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B0B54364-2C1C-7942-C4E0-F662D7B1B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87406" y="2254433"/>
            <a:ext cx="696437" cy="686405"/>
          </a:xfrm>
          <a:prstGeom prst="rect">
            <a:avLst/>
          </a:prstGeom>
          <a:solidFill>
            <a:srgbClr val="DEFAE1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10A6D5B3-6531-4450-8449-D05C52DEEA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83843" y="1569534"/>
            <a:ext cx="687233" cy="695476"/>
          </a:xfrm>
          <a:prstGeom prst="rect">
            <a:avLst/>
          </a:prstGeom>
          <a:solidFill>
            <a:srgbClr val="DEFAE1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FC07FEF4-7167-B71D-7C6A-56B1838A87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70120" y="883135"/>
            <a:ext cx="696437" cy="686405"/>
          </a:xfrm>
          <a:prstGeom prst="rect">
            <a:avLst/>
          </a:prstGeom>
          <a:solidFill>
            <a:srgbClr val="DEFAE1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F9D8B6A8-F64F-1140-A31E-135CD39EFDA8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3757349" y="1569540"/>
            <a:ext cx="8434651" cy="2742595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3600"/>
              <a:t>マスタ タイトルの書式設定</a:t>
            </a:r>
          </a:p>
        </p:txBody>
      </p:sp>
      <p:pic>
        <p:nvPicPr>
          <p:cNvPr id="2" name="Picture 4" descr="ロゴ">
            <a:extLst>
              <a:ext uri="{FF2B5EF4-FFF2-40B4-BE49-F238E27FC236}">
                <a16:creationId xmlns:a16="http://schemas.microsoft.com/office/drawing/2014/main" id="{704EA0BC-BAE7-63B1-32D1-C91B23866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945" y="6222798"/>
            <a:ext cx="5138737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807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1">
            <a:extLst>
              <a:ext uri="{FF2B5EF4-FFF2-40B4-BE49-F238E27FC236}">
                <a16:creationId xmlns:a16="http://schemas.microsoft.com/office/drawing/2014/main" id="{1B5C113E-10E1-CEDE-27D3-74C7A5F701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04827" y="514350"/>
            <a:ext cx="346075" cy="342900"/>
          </a:xfrm>
          <a:prstGeom prst="rect">
            <a:avLst/>
          </a:prstGeom>
          <a:solidFill>
            <a:srgbClr val="407F35"/>
          </a:solidFill>
          <a:ln w="12700">
            <a:solidFill>
              <a:srgbClr val="407F35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sp>
        <p:nvSpPr>
          <p:cNvPr id="8" name="Rectangle 22">
            <a:extLst>
              <a:ext uri="{FF2B5EF4-FFF2-40B4-BE49-F238E27FC236}">
                <a16:creationId xmlns:a16="http://schemas.microsoft.com/office/drawing/2014/main" id="{10CF5832-E1C2-56DB-3CDC-CDE1ABB533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8753" y="103188"/>
            <a:ext cx="485775" cy="481012"/>
          </a:xfrm>
          <a:prstGeom prst="rect">
            <a:avLst/>
          </a:prstGeom>
          <a:solidFill>
            <a:srgbClr val="99CC00"/>
          </a:solidFill>
          <a:ln w="12700">
            <a:solidFill>
              <a:srgbClr val="99CC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sp>
        <p:nvSpPr>
          <p:cNvPr id="9" name="Rectangle 23">
            <a:extLst>
              <a:ext uri="{FF2B5EF4-FFF2-40B4-BE49-F238E27FC236}">
                <a16:creationId xmlns:a16="http://schemas.microsoft.com/office/drawing/2014/main" id="{CCDFC499-ADF2-7006-8F4C-55C2B92EC81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7316" y="377825"/>
            <a:ext cx="347662" cy="342900"/>
          </a:xfrm>
          <a:prstGeom prst="rect">
            <a:avLst/>
          </a:prstGeom>
          <a:solidFill>
            <a:srgbClr val="B8D8B0"/>
          </a:solidFill>
          <a:ln w="12700">
            <a:solidFill>
              <a:srgbClr val="B8D8B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D25D4E4-8027-3A4C-5648-D54D9E87DDB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93476" y="173038"/>
            <a:ext cx="811214" cy="4111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0186" tIns="50093" rIns="100186" bIns="50093" numCol="1" anchor="b" anchorCtr="0" compatLnSpc="1">
            <a:prstTxWarp prst="textNoShape">
              <a:avLst/>
            </a:prstTxWarp>
          </a:bodyPr>
          <a:lstStyle>
            <a:lvl1pPr algn="r" defTabSz="1001763" eaLnBrk="1" hangingPunct="1">
              <a:defRPr kumimoji="0" sz="19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964583CD-03F4-45F3-8C39-5C844793DF6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1" name="Rectangle 19">
            <a:extLst>
              <a:ext uri="{FF2B5EF4-FFF2-40B4-BE49-F238E27FC236}">
                <a16:creationId xmlns:a16="http://schemas.microsoft.com/office/drawing/2014/main" id="{68387CF1-D3A8-FC04-A6B3-B434521135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50031"/>
            <a:ext cx="12192000" cy="307975"/>
          </a:xfrm>
          <a:prstGeom prst="rect">
            <a:avLst/>
          </a:prstGeom>
          <a:gradFill rotWithShape="1">
            <a:gsLst>
              <a:gs pos="0">
                <a:srgbClr val="7BB76D"/>
              </a:gs>
              <a:gs pos="100000">
                <a:srgbClr val="527848"/>
              </a:gs>
            </a:gsLst>
            <a:lin ang="5400000" scaled="1"/>
          </a:gradFill>
          <a:ln w="12700">
            <a:solidFill>
              <a:srgbClr val="B8D8B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sp>
        <p:nvSpPr>
          <p:cNvPr id="12" name="Rectangle 20">
            <a:extLst>
              <a:ext uri="{FF2B5EF4-FFF2-40B4-BE49-F238E27FC236}">
                <a16:creationId xmlns:a16="http://schemas.microsoft.com/office/drawing/2014/main" id="{64BB0D90-6280-0EAA-01A6-9ADABA1D2F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81763"/>
            <a:ext cx="12192000" cy="6826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EC50A2F3-E17E-4783-F652-D9BCF8650049}"/>
              </a:ext>
            </a:extLst>
          </p:cNvPr>
          <p:cNvGrpSpPr/>
          <p:nvPr userDrawn="1"/>
        </p:nvGrpSpPr>
        <p:grpSpPr>
          <a:xfrm>
            <a:off x="850900" y="616749"/>
            <a:ext cx="11341100" cy="138113"/>
            <a:chOff x="782638" y="650875"/>
            <a:chExt cx="9509125" cy="138113"/>
          </a:xfrm>
        </p:grpSpPr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01FB384C-11F6-43E6-4EBD-E89C43D0307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82638" y="650875"/>
              <a:ext cx="9509125" cy="68263"/>
            </a:xfrm>
            <a:prstGeom prst="rect">
              <a:avLst/>
            </a:prstGeom>
            <a:gradFill rotWithShape="1">
              <a:gsLst>
                <a:gs pos="0">
                  <a:srgbClr val="9DE3A9"/>
                </a:gs>
                <a:gs pos="100000">
                  <a:srgbClr val="527848"/>
                </a:gs>
              </a:gsLst>
              <a:lin ang="0" scaled="1"/>
            </a:gradFill>
            <a:ln w="9525">
              <a:solidFill>
                <a:srgbClr val="CCFF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defRPr/>
              </a:pPr>
              <a:endParaRPr lang="ja-JP" altLang="en-US" sz="1100"/>
            </a:p>
          </p:txBody>
        </p:sp>
        <p:sp>
          <p:nvSpPr>
            <p:cNvPr id="15" name="Rectangle 31">
              <a:extLst>
                <a:ext uri="{FF2B5EF4-FFF2-40B4-BE49-F238E27FC236}">
                  <a16:creationId xmlns:a16="http://schemas.microsoft.com/office/drawing/2014/main" id="{88016249-30F4-307E-DEFF-1F10D65E05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82638" y="719138"/>
              <a:ext cx="9509125" cy="698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</p:spPr>
          <p:txBody>
            <a:bodyPr wrap="none" anchor="ctr"/>
            <a:lstStyle>
              <a:lvl1pPr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defRPr/>
              </a:pPr>
              <a:endParaRPr lang="ja-JP" altLang="en-US" sz="1100"/>
            </a:p>
          </p:txBody>
        </p:sp>
      </p:grpSp>
      <p:sp>
        <p:nvSpPr>
          <p:cNvPr id="16" name="Text Box 35">
            <a:extLst>
              <a:ext uri="{FF2B5EF4-FFF2-40B4-BE49-F238E27FC236}">
                <a16:creationId xmlns:a16="http://schemas.microsoft.com/office/drawing/2014/main" id="{CED0ADFC-3AC0-E417-097A-6059085A71A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7164" y="6563520"/>
            <a:ext cx="3008313" cy="288740"/>
          </a:xfrm>
          <a:prstGeom prst="rect">
            <a:avLst/>
          </a:prstGeom>
          <a:noFill/>
          <a:ln>
            <a:noFill/>
          </a:ln>
          <a:effectLst/>
        </p:spPr>
        <p:txBody>
          <a:bodyPr lIns="87828" tIns="43914" rIns="87828" bIns="43914">
            <a:spAutoFit/>
          </a:bodyPr>
          <a:lstStyle>
            <a:lvl1pPr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439738"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877888"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317625"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1755775"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212975" defTabSz="174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670175" defTabSz="174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127375" defTabSz="174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584575" defTabSz="174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1300" i="1">
                <a:solidFill>
                  <a:srgbClr val="FCF3EA"/>
                </a:solidFill>
                <a:latin typeface="Cooper Black" panose="0208090404030B020404" pitchFamily="18" charset="0"/>
              </a:rPr>
              <a:t>http://www.youtheng.co.jp/</a:t>
            </a:r>
          </a:p>
        </p:txBody>
      </p:sp>
      <p:pic>
        <p:nvPicPr>
          <p:cNvPr id="17" name="Picture 36" descr="Youthロゴ">
            <a:extLst>
              <a:ext uri="{FF2B5EF4-FFF2-40B4-BE49-F238E27FC236}">
                <a16:creationId xmlns:a16="http://schemas.microsoft.com/office/drawing/2014/main" id="{1E04001E-ADD8-5F6F-022A-E1D4D5FBEB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9013" y="6550031"/>
            <a:ext cx="3495675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4708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1">
            <a:extLst>
              <a:ext uri="{FF2B5EF4-FFF2-40B4-BE49-F238E27FC236}">
                <a16:creationId xmlns:a16="http://schemas.microsoft.com/office/drawing/2014/main" id="{1B5C113E-10E1-CEDE-27D3-74C7A5F701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04827" y="3840162"/>
            <a:ext cx="346075" cy="342900"/>
          </a:xfrm>
          <a:prstGeom prst="rect">
            <a:avLst/>
          </a:prstGeom>
          <a:solidFill>
            <a:srgbClr val="407F35"/>
          </a:solidFill>
          <a:ln w="12700">
            <a:solidFill>
              <a:srgbClr val="407F35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sp>
        <p:nvSpPr>
          <p:cNvPr id="8" name="Rectangle 22">
            <a:extLst>
              <a:ext uri="{FF2B5EF4-FFF2-40B4-BE49-F238E27FC236}">
                <a16:creationId xmlns:a16="http://schemas.microsoft.com/office/drawing/2014/main" id="{10CF5832-E1C2-56DB-3CDC-CDE1ABB533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8753" y="3429000"/>
            <a:ext cx="485775" cy="481012"/>
          </a:xfrm>
          <a:prstGeom prst="rect">
            <a:avLst/>
          </a:prstGeom>
          <a:solidFill>
            <a:srgbClr val="99CC00"/>
          </a:solidFill>
          <a:ln w="12700">
            <a:solidFill>
              <a:srgbClr val="99CC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sp>
        <p:nvSpPr>
          <p:cNvPr id="9" name="Rectangle 23">
            <a:extLst>
              <a:ext uri="{FF2B5EF4-FFF2-40B4-BE49-F238E27FC236}">
                <a16:creationId xmlns:a16="http://schemas.microsoft.com/office/drawing/2014/main" id="{CCDFC499-ADF2-7006-8F4C-55C2B92EC81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7316" y="3703637"/>
            <a:ext cx="347662" cy="342900"/>
          </a:xfrm>
          <a:prstGeom prst="rect">
            <a:avLst/>
          </a:prstGeom>
          <a:solidFill>
            <a:srgbClr val="B8D8B0"/>
          </a:solidFill>
          <a:ln w="12700">
            <a:solidFill>
              <a:srgbClr val="B8D8B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D25D4E4-8027-3A4C-5648-D54D9E87DDB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93476" y="173038"/>
            <a:ext cx="811214" cy="4111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0186" tIns="50093" rIns="100186" bIns="50093" numCol="1" anchor="b" anchorCtr="0" compatLnSpc="1">
            <a:prstTxWarp prst="textNoShape">
              <a:avLst/>
            </a:prstTxWarp>
          </a:bodyPr>
          <a:lstStyle>
            <a:lvl1pPr algn="r" defTabSz="1001763" eaLnBrk="1" hangingPunct="1">
              <a:defRPr kumimoji="0" sz="19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964583CD-03F4-45F3-8C39-5C844793DF6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EC50A2F3-E17E-4783-F652-D9BCF8650049}"/>
              </a:ext>
            </a:extLst>
          </p:cNvPr>
          <p:cNvGrpSpPr/>
          <p:nvPr userDrawn="1"/>
        </p:nvGrpSpPr>
        <p:grpSpPr>
          <a:xfrm>
            <a:off x="850900" y="3942558"/>
            <a:ext cx="11341100" cy="138113"/>
            <a:chOff x="782638" y="650875"/>
            <a:chExt cx="9509125" cy="138113"/>
          </a:xfrm>
        </p:grpSpPr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01FB384C-11F6-43E6-4EBD-E89C43D0307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82638" y="650875"/>
              <a:ext cx="9509125" cy="68263"/>
            </a:xfrm>
            <a:prstGeom prst="rect">
              <a:avLst/>
            </a:prstGeom>
            <a:gradFill rotWithShape="1">
              <a:gsLst>
                <a:gs pos="0">
                  <a:srgbClr val="9DE3A9"/>
                </a:gs>
                <a:gs pos="100000">
                  <a:srgbClr val="527848"/>
                </a:gs>
              </a:gsLst>
              <a:lin ang="0" scaled="1"/>
            </a:gradFill>
            <a:ln w="9525">
              <a:solidFill>
                <a:srgbClr val="CCFF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defRPr/>
              </a:pPr>
              <a:endParaRPr lang="ja-JP" altLang="en-US" sz="1100"/>
            </a:p>
          </p:txBody>
        </p:sp>
        <p:sp>
          <p:nvSpPr>
            <p:cNvPr id="15" name="Rectangle 31">
              <a:extLst>
                <a:ext uri="{FF2B5EF4-FFF2-40B4-BE49-F238E27FC236}">
                  <a16:creationId xmlns:a16="http://schemas.microsoft.com/office/drawing/2014/main" id="{88016249-30F4-307E-DEFF-1F10D65E05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82638" y="719138"/>
              <a:ext cx="9509125" cy="698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</p:spPr>
          <p:txBody>
            <a:bodyPr wrap="none" anchor="ctr"/>
            <a:lstStyle>
              <a:lvl1pPr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1pPr>
              <a:lvl2pPr marL="742950" indent="-28575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2pPr>
              <a:lvl3pPr marL="11430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3pPr>
              <a:lvl4pPr marL="16002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4pPr>
              <a:lvl5pPr marL="2057400" indent="-228600" algn="ctr"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100">
                  <a:solidFill>
                    <a:schemeClr val="tx1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defRPr/>
              </a:pPr>
              <a:endParaRPr lang="ja-JP" altLang="en-US" sz="1100"/>
            </a:p>
          </p:txBody>
        </p:sp>
      </p:grpSp>
      <p:sp>
        <p:nvSpPr>
          <p:cNvPr id="3" name="Rectangle 19">
            <a:extLst>
              <a:ext uri="{FF2B5EF4-FFF2-40B4-BE49-F238E27FC236}">
                <a16:creationId xmlns:a16="http://schemas.microsoft.com/office/drawing/2014/main" id="{8B0442C0-C397-C434-3E05-D7543D2EE1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50031"/>
            <a:ext cx="12192000" cy="307975"/>
          </a:xfrm>
          <a:prstGeom prst="rect">
            <a:avLst/>
          </a:prstGeom>
          <a:gradFill rotWithShape="1">
            <a:gsLst>
              <a:gs pos="0">
                <a:srgbClr val="7BB76D"/>
              </a:gs>
              <a:gs pos="100000">
                <a:srgbClr val="527848"/>
              </a:gs>
            </a:gsLst>
            <a:lin ang="5400000" scaled="1"/>
          </a:gradFill>
          <a:ln w="12700">
            <a:solidFill>
              <a:srgbClr val="B8D8B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BBAE7979-8A94-8C46-D47B-2A42C9A3779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81763"/>
            <a:ext cx="12192000" cy="6826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742950" indent="-28575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2pPr>
            <a:lvl3pPr marL="11430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3pPr>
            <a:lvl4pPr marL="16002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4pPr>
            <a:lvl5pPr marL="2057400" indent="-228600" algn="ctr"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/>
          </a:p>
        </p:txBody>
      </p:sp>
      <p:sp>
        <p:nvSpPr>
          <p:cNvPr id="5" name="Text Box 35">
            <a:extLst>
              <a:ext uri="{FF2B5EF4-FFF2-40B4-BE49-F238E27FC236}">
                <a16:creationId xmlns:a16="http://schemas.microsoft.com/office/drawing/2014/main" id="{34D80E85-81A4-7A89-83C8-406854929B8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7164" y="6563520"/>
            <a:ext cx="3008313" cy="288740"/>
          </a:xfrm>
          <a:prstGeom prst="rect">
            <a:avLst/>
          </a:prstGeom>
          <a:noFill/>
          <a:ln>
            <a:noFill/>
          </a:ln>
          <a:effectLst/>
        </p:spPr>
        <p:txBody>
          <a:bodyPr lIns="87828" tIns="43914" rIns="87828" bIns="43914">
            <a:spAutoFit/>
          </a:bodyPr>
          <a:lstStyle>
            <a:lvl1pPr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439738"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877888"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317625"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1755775" algn="l" defTabSz="174625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212975" defTabSz="174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670175" defTabSz="174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127375" defTabSz="174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584575" defTabSz="174625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1300" i="1">
                <a:solidFill>
                  <a:srgbClr val="FCF3EA"/>
                </a:solidFill>
                <a:latin typeface="Cooper Black" panose="0208090404030B020404" pitchFamily="18" charset="0"/>
              </a:rPr>
              <a:t>http://www.youtheng.co.jp/</a:t>
            </a:r>
          </a:p>
        </p:txBody>
      </p:sp>
      <p:pic>
        <p:nvPicPr>
          <p:cNvPr id="6" name="Picture 36" descr="Youthロゴ">
            <a:extLst>
              <a:ext uri="{FF2B5EF4-FFF2-40B4-BE49-F238E27FC236}">
                <a16:creationId xmlns:a16="http://schemas.microsoft.com/office/drawing/2014/main" id="{B16DAE42-D56A-F0C3-71EE-A63BE11820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9013" y="6550031"/>
            <a:ext cx="3495675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0666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2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hf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5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5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kumimoji="1"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4B9597-017D-C303-F1BF-584F365D2BC6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0" y="1"/>
            <a:ext cx="3960814" cy="6858000"/>
          </a:xfrm>
          <a:prstGeom prst="rect">
            <a:avLst/>
          </a:prstGeom>
          <a:gradFill rotWithShape="0">
            <a:gsLst>
              <a:gs pos="0">
                <a:srgbClr val="C7E3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lIns="100186" tIns="50094" rIns="100186" bIns="50094" anchor="ctr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B866C5C-471A-CAAE-A201-22316A9D0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402" y="3627236"/>
            <a:ext cx="1392874" cy="684894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D50861B-A3F0-78B9-417B-56D9B8BA50D3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2383844" y="1569536"/>
            <a:ext cx="9808161" cy="2742594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371D9033-0622-79C1-5ED1-AF4A6CAC4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121" y="1569534"/>
            <a:ext cx="694903" cy="695476"/>
          </a:xfrm>
          <a:prstGeom prst="rect">
            <a:avLst/>
          </a:prstGeom>
          <a:solidFill>
            <a:srgbClr val="B7DBBD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607BE74B-225F-8EA7-4B8C-62F4CA45D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" y="1569534"/>
            <a:ext cx="696437" cy="695476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5AE734F3-3E86-3767-389B-7775E9C58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968" y="2940833"/>
            <a:ext cx="696437" cy="689429"/>
          </a:xfrm>
          <a:prstGeom prst="rect">
            <a:avLst/>
          </a:prstGeom>
          <a:solidFill>
            <a:srgbClr val="DEFAE1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1" name="Rectangle 21">
            <a:extLst>
              <a:ext uri="{FF2B5EF4-FFF2-40B4-BE49-F238E27FC236}">
                <a16:creationId xmlns:a16="http://schemas.microsoft.com/office/drawing/2014/main" id="{EE1E06C4-1A6C-764B-D5AC-D30CAD41D16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83844" y="2254430"/>
            <a:ext cx="687233" cy="686405"/>
          </a:xfrm>
          <a:prstGeom prst="rect">
            <a:avLst/>
          </a:prstGeom>
          <a:solidFill>
            <a:srgbClr val="B7DBBD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2" name="Rectangle 22">
            <a:extLst>
              <a:ext uri="{FF2B5EF4-FFF2-40B4-BE49-F238E27FC236}">
                <a16:creationId xmlns:a16="http://schemas.microsoft.com/office/drawing/2014/main" id="{D4979372-7FA6-F4FE-FB52-552200705E8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87406" y="2940836"/>
            <a:ext cx="694903" cy="689429"/>
          </a:xfrm>
          <a:prstGeom prst="rect">
            <a:avLst/>
          </a:prstGeom>
          <a:solidFill>
            <a:srgbClr val="B7DBBD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36180C28-8033-C24B-D910-2CDDB18A433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90968" y="3627236"/>
            <a:ext cx="696437" cy="684894"/>
          </a:xfrm>
          <a:prstGeom prst="rect">
            <a:avLst/>
          </a:prstGeom>
          <a:solidFill>
            <a:srgbClr val="B7DBBD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4" name="Rectangle 24">
            <a:extLst>
              <a:ext uri="{FF2B5EF4-FFF2-40B4-BE49-F238E27FC236}">
                <a16:creationId xmlns:a16="http://schemas.microsoft.com/office/drawing/2014/main" id="{3477624C-734B-CCBD-EB23-9CCF46F7C4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87407" y="2254430"/>
            <a:ext cx="696437" cy="686405"/>
          </a:xfrm>
          <a:prstGeom prst="rect">
            <a:avLst/>
          </a:prstGeom>
          <a:solidFill>
            <a:srgbClr val="DEFAE1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230A2886-4A28-0DE5-3A8D-003B119A28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83844" y="1569534"/>
            <a:ext cx="687233" cy="695476"/>
          </a:xfrm>
          <a:prstGeom prst="rect">
            <a:avLst/>
          </a:prstGeom>
          <a:solidFill>
            <a:srgbClr val="DEFAE1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6" name="Rectangle 26">
            <a:extLst>
              <a:ext uri="{FF2B5EF4-FFF2-40B4-BE49-F238E27FC236}">
                <a16:creationId xmlns:a16="http://schemas.microsoft.com/office/drawing/2014/main" id="{1D3C89D7-5143-1BD9-D2B9-E721BC7607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70121" y="883132"/>
            <a:ext cx="696437" cy="686405"/>
          </a:xfrm>
          <a:prstGeom prst="rect">
            <a:avLst/>
          </a:prstGeom>
          <a:solidFill>
            <a:srgbClr val="DEFAE1"/>
          </a:solidFill>
          <a:ln>
            <a:noFill/>
          </a:ln>
        </p:spPr>
        <p:txBody>
          <a:bodyPr lIns="100186" tIns="50094" rIns="100186" bIns="50094"/>
          <a:lstStyle>
            <a:lvl1pPr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501650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00171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503363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03425" algn="l" defTabSz="1001713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4606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178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3750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32225" defTabSz="10017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endParaRPr kumimoji="0" lang="ja-JP" altLang="ja-JP" sz="2601">
              <a:latin typeface="Times New Roman" panose="02020603050405020304" pitchFamily="18" charset="0"/>
            </a:endParaRPr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65C746A1-7E79-15E9-D04E-847C56F4E29B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3757614" y="1570038"/>
            <a:ext cx="8434386" cy="2741612"/>
          </a:xfrm>
          <a:prstGeom prst="rect">
            <a:avLst/>
          </a:prstGeom>
        </p:spPr>
        <p:txBody>
          <a:bodyPr anchor="ctr"/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pPr lvl="0"/>
            <a:r>
              <a:rPr lang="ja-JP" altLang="en-US" sz="4000">
                <a:latin typeface="メイリオ" panose="020B0604030504040204" pitchFamily="50" charset="-128"/>
                <a:ea typeface="メイリオ" panose="020B0604030504040204" pitchFamily="50" charset="-128"/>
              </a:rPr>
              <a:t>    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10D1CF6-E651-0DA2-50A7-DCDAD7CBC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8330" y="2644519"/>
            <a:ext cx="980816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itchFamily="2" charset="2"/>
              <a:buChar char=""/>
              <a:defRPr kumimoji="1" sz="2400">
                <a:solidFill>
                  <a:schemeClr val="tx1"/>
                </a:solidFill>
                <a:latin typeface="Century Schoolbook" pitchFamily="18" charset="0"/>
                <a:ea typeface="ＭＳ Ｐ明朝" pitchFamily="18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 kumimoji="1" sz="2100">
                <a:solidFill>
                  <a:schemeClr val="tx1"/>
                </a:solidFill>
                <a:latin typeface="Century Schoolbook" pitchFamily="18" charset="0"/>
                <a:ea typeface="ＭＳ Ｐ明朝" pitchFamily="18" charset="-128"/>
              </a:defRPr>
            </a:lvl2pPr>
            <a:lvl3pPr marL="1143000" indent="-228600">
              <a:spcBef>
                <a:spcPct val="20000"/>
              </a:spcBef>
              <a:buClr>
                <a:srgbClr val="2AA0DF"/>
              </a:buClr>
              <a:buSzPct val="60000"/>
              <a:buFont typeface="Wingdings" pitchFamily="2" charset="2"/>
              <a:buChar char=""/>
              <a:defRPr kumimoji="1">
                <a:solidFill>
                  <a:schemeClr val="tx1"/>
                </a:solidFill>
                <a:latin typeface="Century Schoolbook" pitchFamily="18" charset="0"/>
                <a:ea typeface="ＭＳ Ｐ明朝" pitchFamily="18" charset="-128"/>
              </a:defRPr>
            </a:lvl3pPr>
            <a:lvl4pPr marL="1600200" indent="-228600">
              <a:spcBef>
                <a:spcPct val="20000"/>
              </a:spcBef>
              <a:buClr>
                <a:srgbClr val="ADD7FE"/>
              </a:buClr>
              <a:buSzPct val="60000"/>
              <a:buFont typeface="Wingdings" pitchFamily="2" charset="2"/>
              <a:buChar char=""/>
              <a:defRPr kumimoji="1">
                <a:solidFill>
                  <a:schemeClr val="tx1"/>
                </a:solidFill>
                <a:latin typeface="Century Schoolbook" pitchFamily="18" charset="0"/>
                <a:ea typeface="ＭＳ Ｐ明朝" pitchFamily="18" charset="-128"/>
              </a:defRPr>
            </a:lvl4pPr>
            <a:lvl5pPr marL="2057400" indent="-228600">
              <a:spcBef>
                <a:spcPct val="20000"/>
              </a:spcBef>
              <a:buClr>
                <a:srgbClr val="B0C2E6"/>
              </a:buClr>
              <a:buSzPct val="68000"/>
              <a:buFont typeface="Wingdings 2" pitchFamily="18" charset="2"/>
              <a:buChar char=""/>
              <a:defRPr kumimoji="1" sz="1600">
                <a:solidFill>
                  <a:schemeClr val="tx1"/>
                </a:solidFill>
                <a:latin typeface="Century Schoolbook" pitchFamily="18" charset="0"/>
                <a:ea typeface="ＭＳ Ｐ明朝" pitchFamily="18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0C2E6"/>
              </a:buClr>
              <a:buSzPct val="68000"/>
              <a:buFont typeface="Wingdings 2" pitchFamily="18" charset="2"/>
              <a:buChar char=""/>
              <a:defRPr kumimoji="1" sz="1600">
                <a:solidFill>
                  <a:schemeClr val="tx1"/>
                </a:solidFill>
                <a:latin typeface="Century Schoolbook" pitchFamily="18" charset="0"/>
                <a:ea typeface="ＭＳ Ｐ明朝" pitchFamily="18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0C2E6"/>
              </a:buClr>
              <a:buSzPct val="68000"/>
              <a:buFont typeface="Wingdings 2" pitchFamily="18" charset="2"/>
              <a:buChar char=""/>
              <a:defRPr kumimoji="1" sz="1600">
                <a:solidFill>
                  <a:schemeClr val="tx1"/>
                </a:solidFill>
                <a:latin typeface="Century Schoolbook" pitchFamily="18" charset="0"/>
                <a:ea typeface="ＭＳ Ｐ明朝" pitchFamily="18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0C2E6"/>
              </a:buClr>
              <a:buSzPct val="68000"/>
              <a:buFont typeface="Wingdings 2" pitchFamily="18" charset="2"/>
              <a:buChar char=""/>
              <a:defRPr kumimoji="1" sz="1600">
                <a:solidFill>
                  <a:schemeClr val="tx1"/>
                </a:solidFill>
                <a:latin typeface="Century Schoolbook" pitchFamily="18" charset="0"/>
                <a:ea typeface="ＭＳ Ｐ明朝" pitchFamily="18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0C2E6"/>
              </a:buClr>
              <a:buSzPct val="68000"/>
              <a:buFont typeface="Wingdings 2" pitchFamily="18" charset="2"/>
              <a:buChar char=""/>
              <a:defRPr kumimoji="1" sz="1600">
                <a:solidFill>
                  <a:schemeClr val="tx1"/>
                </a:solidFill>
                <a:latin typeface="Century Schoolbook" pitchFamily="18" charset="0"/>
                <a:ea typeface="ＭＳ Ｐ明朝" pitchFamily="18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ja-JP" altLang="en-US" sz="4800" b="1">
                <a:solidFill>
                  <a:schemeClr val="bg1"/>
                </a:solidFill>
              </a:rPr>
              <a:t>最終チーム開発</a:t>
            </a:r>
            <a:endParaRPr lang="en-US" altLang="ja-JP" sz="4800" b="1">
              <a:solidFill>
                <a:schemeClr val="bg1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ja-JP" altLang="en-US" sz="4800" b="1">
                <a:solidFill>
                  <a:schemeClr val="bg1"/>
                </a:solidFill>
              </a:rPr>
              <a:t>スマホ連携型 保管設備管理システム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C081839-DEEE-5BEF-DB71-5257B52309AB}"/>
              </a:ext>
            </a:extLst>
          </p:cNvPr>
          <p:cNvSpPr txBox="1"/>
          <p:nvPr/>
        </p:nvSpPr>
        <p:spPr>
          <a:xfrm>
            <a:off x="8854020" y="4615569"/>
            <a:ext cx="1875835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1">
                <a:latin typeface="Meiryo UI" panose="020B0604030504040204" pitchFamily="50" charset="-128"/>
                <a:ea typeface="Meiryo UI" panose="020B0604030504040204" pitchFamily="50" charset="-128"/>
              </a:rPr>
              <a:t>2026</a:t>
            </a:r>
            <a:r>
              <a:rPr kumimoji="1" lang="ja-JP" altLang="en-US" sz="1801">
                <a:latin typeface="Meiryo UI" panose="020B0604030504040204" pitchFamily="50" charset="-128"/>
                <a:ea typeface="Meiryo UI" panose="020B0604030504040204" pitchFamily="50" charset="-128"/>
              </a:rPr>
              <a:t>年</a:t>
            </a:r>
            <a:r>
              <a:rPr kumimoji="1" lang="en-US" altLang="ja-JP" sz="1801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r>
            <a:r>
              <a:rPr kumimoji="1" lang="ja-JP" altLang="en-US" sz="1801">
                <a:latin typeface="Meiryo UI" panose="020B0604030504040204" pitchFamily="50" charset="-128"/>
                <a:ea typeface="Meiryo UI" panose="020B0604030504040204" pitchFamily="50" charset="-128"/>
              </a:rPr>
              <a:t>月</a:t>
            </a:r>
            <a:r>
              <a:rPr kumimoji="1" lang="en-US" altLang="ja-JP" sz="1801">
                <a:latin typeface="Meiryo UI" panose="020B0604030504040204" pitchFamily="50" charset="-128"/>
                <a:ea typeface="Meiryo UI" panose="020B0604030504040204" pitchFamily="50" charset="-128"/>
              </a:rPr>
              <a:t>29</a:t>
            </a:r>
            <a:r>
              <a:rPr kumimoji="1" lang="ja-JP" altLang="en-US" sz="1801">
                <a:latin typeface="Meiryo UI" panose="020B0604030504040204" pitchFamily="50" charset="-128"/>
                <a:ea typeface="Meiryo UI" panose="020B0604030504040204" pitchFamily="50" charset="-128"/>
              </a:rPr>
              <a:t>日</a:t>
            </a:r>
            <a:endParaRPr kumimoji="1" lang="en-US" altLang="ja-JP" sz="1801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801">
                <a:latin typeface="Meiryo UI" panose="020B0604030504040204" pitchFamily="50" charset="-128"/>
                <a:ea typeface="Meiryo UI" panose="020B0604030504040204" pitchFamily="50" charset="-128"/>
              </a:rPr>
              <a:t>チーム</a:t>
            </a:r>
            <a:r>
              <a:rPr kumimoji="1" lang="en-US" altLang="ja-JP" sz="1801">
                <a:latin typeface="Meiryo UI" panose="020B0604030504040204" pitchFamily="50" charset="-128"/>
                <a:ea typeface="Meiryo UI" panose="020B0604030504040204" pitchFamily="50" charset="-128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4665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5A4D5-E9FB-305F-D90C-7B319EA17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9E396D8-DBB4-7C11-7892-2AF9B93371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964583CD-03F4-45F3-8C39-5C844793DF62}" type="slidenum">
              <a:rPr lang="en-US" altLang="ja-JP" smtClean="0"/>
              <a:pPr>
                <a:defRPr/>
              </a:pPr>
              <a:t>2</a:t>
            </a:fld>
            <a:endParaRPr lang="en-US" altLang="ja-JP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E9A2C91F-8BD8-5BEC-24DA-D6C318941815}"/>
              </a:ext>
            </a:extLst>
          </p:cNvPr>
          <p:cNvSpPr txBox="1">
            <a:spLocks/>
          </p:cNvSpPr>
          <p:nvPr/>
        </p:nvSpPr>
        <p:spPr>
          <a:xfrm>
            <a:off x="899950" y="94682"/>
            <a:ext cx="7632848" cy="48952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240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システム概要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4468EF8-6340-A5A8-CAC5-4B91BCBD2976}"/>
              </a:ext>
            </a:extLst>
          </p:cNvPr>
          <p:cNvSpPr txBox="1"/>
          <p:nvPr/>
        </p:nvSpPr>
        <p:spPr>
          <a:xfrm>
            <a:off x="489196" y="1182046"/>
            <a:ext cx="108042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/>
              <a:t>開発システム：</a:t>
            </a:r>
            <a:r>
              <a:rPr lang="en-US" altLang="ja-JP" b="1"/>
              <a:t>  </a:t>
            </a:r>
            <a:r>
              <a:rPr lang="ja-JP" altLang="en-US" b="1"/>
              <a:t>スマホ連携型 保管設備管理システム</a:t>
            </a:r>
            <a:endParaRPr lang="en-US" altLang="ja-JP" b="1"/>
          </a:p>
          <a:p>
            <a:endParaRPr lang="en-US" altLang="ja-JP" b="1"/>
          </a:p>
          <a:p>
            <a:r>
              <a:rPr lang="ja-JP" altLang="en-US" b="1"/>
              <a:t>概要：</a:t>
            </a:r>
            <a:r>
              <a:rPr lang="ja-JP" altLang="en-US"/>
              <a:t>スマホから、保管設備に対して入庫・出庫の搬送指示を行い、</a:t>
            </a:r>
          </a:p>
          <a:p>
            <a:r>
              <a:rPr lang="ja-JP" altLang="en-US"/>
              <a:t>　　　設備状態・在庫状態・搬送指示状態を確認できるシステム</a:t>
            </a:r>
            <a:endParaRPr lang="en-US" altLang="ja-JP" b="1"/>
          </a:p>
        </p:txBody>
      </p:sp>
      <p:pic>
        <p:nvPicPr>
          <p:cNvPr id="4" name="図 3" descr="ボタン有りスマホ（画面透明）">
            <a:extLst>
              <a:ext uri="{FF2B5EF4-FFF2-40B4-BE49-F238E27FC236}">
                <a16:creationId xmlns:a16="http://schemas.microsoft.com/office/drawing/2014/main" id="{30E2F7C0-1DB1-A87A-EAD5-A3BAB1D3E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237" y="3895467"/>
            <a:ext cx="1160318" cy="1160318"/>
          </a:xfrm>
          <a:prstGeom prst="rect">
            <a:avLst/>
          </a:prstGeom>
        </p:spPr>
      </p:pic>
      <p:pic>
        <p:nvPicPr>
          <p:cNvPr id="6" name="図 5" descr="液晶モニターパソコン（画面透明）">
            <a:extLst>
              <a:ext uri="{FF2B5EF4-FFF2-40B4-BE49-F238E27FC236}">
                <a16:creationId xmlns:a16="http://schemas.microsoft.com/office/drawing/2014/main" id="{54158EC8-8BDF-C1B5-861D-B51614A95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328" y="3895467"/>
            <a:ext cx="1160318" cy="1160318"/>
          </a:xfrm>
          <a:prstGeom prst="rect">
            <a:avLst/>
          </a:prstGeom>
        </p:spPr>
      </p:pic>
      <p:pic>
        <p:nvPicPr>
          <p:cNvPr id="7" name="図 6" descr="液晶モニターパソコン（画面透明）">
            <a:extLst>
              <a:ext uri="{FF2B5EF4-FFF2-40B4-BE49-F238E27FC236}">
                <a16:creationId xmlns:a16="http://schemas.microsoft.com/office/drawing/2014/main" id="{532C8472-C276-1542-1CBF-A27C2EEEA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201" y="2541951"/>
            <a:ext cx="1160318" cy="1160318"/>
          </a:xfrm>
          <a:prstGeom prst="rect">
            <a:avLst/>
          </a:prstGeom>
        </p:spPr>
      </p:pic>
      <p:pic>
        <p:nvPicPr>
          <p:cNvPr id="8" name="図 7" descr="液晶モニターパソコン（画面透明）">
            <a:extLst>
              <a:ext uri="{FF2B5EF4-FFF2-40B4-BE49-F238E27FC236}">
                <a16:creationId xmlns:a16="http://schemas.microsoft.com/office/drawing/2014/main" id="{4A5E5FE1-2CE2-552C-C917-77DF8D8FB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201" y="3895467"/>
            <a:ext cx="1160318" cy="1160318"/>
          </a:xfrm>
          <a:prstGeom prst="rect">
            <a:avLst/>
          </a:prstGeom>
        </p:spPr>
      </p:pic>
      <p:pic>
        <p:nvPicPr>
          <p:cNvPr id="9" name="図 8" descr="液晶モニターパソコン（画面透明）">
            <a:extLst>
              <a:ext uri="{FF2B5EF4-FFF2-40B4-BE49-F238E27FC236}">
                <a16:creationId xmlns:a16="http://schemas.microsoft.com/office/drawing/2014/main" id="{FC017517-4074-AF83-52B6-BC022EAC6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201" y="5248983"/>
            <a:ext cx="1160318" cy="1160318"/>
          </a:xfrm>
          <a:prstGeom prst="rect">
            <a:avLst/>
          </a:prstGeom>
        </p:spPr>
      </p:pic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49FCB76D-8E5F-4153-965B-0520E8815FA7}"/>
              </a:ext>
            </a:extLst>
          </p:cNvPr>
          <p:cNvGrpSpPr/>
          <p:nvPr/>
        </p:nvGrpSpPr>
        <p:grpSpPr>
          <a:xfrm>
            <a:off x="8736447" y="3883114"/>
            <a:ext cx="1469735" cy="1169554"/>
            <a:chOff x="8736447" y="3799990"/>
            <a:chExt cx="1469735" cy="1169554"/>
          </a:xfrm>
        </p:grpSpPr>
        <p:sp>
          <p:nvSpPr>
            <p:cNvPr id="33" name="直方体 32">
              <a:extLst>
                <a:ext uri="{FF2B5EF4-FFF2-40B4-BE49-F238E27FC236}">
                  <a16:creationId xmlns:a16="http://schemas.microsoft.com/office/drawing/2014/main" id="{ED07A9DE-EA03-6D60-D059-857167BEC7E5}"/>
                </a:ext>
              </a:extLst>
            </p:cNvPr>
            <p:cNvSpPr/>
            <p:nvPr/>
          </p:nvSpPr>
          <p:spPr>
            <a:xfrm>
              <a:off x="8736447" y="3799990"/>
              <a:ext cx="1469735" cy="1054833"/>
            </a:xfrm>
            <a:prstGeom prst="cube">
              <a:avLst>
                <a:gd name="adj" fmla="val 1735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C3F1B9BD-5904-66CD-3F6F-685CF5E04E7E}"/>
                </a:ext>
              </a:extLst>
            </p:cNvPr>
            <p:cNvGrpSpPr/>
            <p:nvPr/>
          </p:nvGrpSpPr>
          <p:grpSpPr>
            <a:xfrm>
              <a:off x="8851904" y="4130548"/>
              <a:ext cx="475674" cy="838996"/>
              <a:chOff x="8879612" y="2863273"/>
              <a:chExt cx="475674" cy="838996"/>
            </a:xfrm>
          </p:grpSpPr>
          <p:sp>
            <p:nvSpPr>
              <p:cNvPr id="39" name="直方体 38">
                <a:extLst>
                  <a:ext uri="{FF2B5EF4-FFF2-40B4-BE49-F238E27FC236}">
                    <a16:creationId xmlns:a16="http://schemas.microsoft.com/office/drawing/2014/main" id="{6CF81443-D594-F8D4-A0AA-2BF42CD8BA80}"/>
                  </a:ext>
                </a:extLst>
              </p:cNvPr>
              <p:cNvSpPr/>
              <p:nvPr/>
            </p:nvSpPr>
            <p:spPr>
              <a:xfrm>
                <a:off x="8879612" y="3214255"/>
                <a:ext cx="475674" cy="488014"/>
              </a:xfrm>
              <a:prstGeom prst="cube">
                <a:avLst>
                  <a:gd name="adj" fmla="val 24216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0" name="正方形/長方形 39">
                <a:extLst>
                  <a:ext uri="{FF2B5EF4-FFF2-40B4-BE49-F238E27FC236}">
                    <a16:creationId xmlns:a16="http://schemas.microsoft.com/office/drawing/2014/main" id="{69BA7E61-72B8-6CCF-530D-5D70A81A2C36}"/>
                  </a:ext>
                </a:extLst>
              </p:cNvPr>
              <p:cNvSpPr/>
              <p:nvPr/>
            </p:nvSpPr>
            <p:spPr>
              <a:xfrm>
                <a:off x="8995644" y="2863273"/>
                <a:ext cx="359642" cy="35098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85727FC1-F5FD-C56E-8FDE-68075BE3D284}"/>
                </a:ext>
              </a:extLst>
            </p:cNvPr>
            <p:cNvGrpSpPr/>
            <p:nvPr/>
          </p:nvGrpSpPr>
          <p:grpSpPr>
            <a:xfrm>
              <a:off x="9299868" y="4121312"/>
              <a:ext cx="475674" cy="838996"/>
              <a:chOff x="8879612" y="2863273"/>
              <a:chExt cx="475674" cy="838996"/>
            </a:xfrm>
          </p:grpSpPr>
          <p:sp>
            <p:nvSpPr>
              <p:cNvPr id="37" name="直方体 36">
                <a:extLst>
                  <a:ext uri="{FF2B5EF4-FFF2-40B4-BE49-F238E27FC236}">
                    <a16:creationId xmlns:a16="http://schemas.microsoft.com/office/drawing/2014/main" id="{E9BCDCB8-6E0F-AB64-2064-3756FA1C380A}"/>
                  </a:ext>
                </a:extLst>
              </p:cNvPr>
              <p:cNvSpPr/>
              <p:nvPr/>
            </p:nvSpPr>
            <p:spPr>
              <a:xfrm>
                <a:off x="8879612" y="3214255"/>
                <a:ext cx="475674" cy="488014"/>
              </a:xfrm>
              <a:prstGeom prst="cube">
                <a:avLst>
                  <a:gd name="adj" fmla="val 24216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8" name="正方形/長方形 37">
                <a:extLst>
                  <a:ext uri="{FF2B5EF4-FFF2-40B4-BE49-F238E27FC236}">
                    <a16:creationId xmlns:a16="http://schemas.microsoft.com/office/drawing/2014/main" id="{8F056FDE-530A-9F8B-E5AC-B03DA412CD6E}"/>
                  </a:ext>
                </a:extLst>
              </p:cNvPr>
              <p:cNvSpPr/>
              <p:nvPr/>
            </p:nvSpPr>
            <p:spPr>
              <a:xfrm>
                <a:off x="8995644" y="2863273"/>
                <a:ext cx="359642" cy="35098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6" name="直方体 35">
              <a:extLst>
                <a:ext uri="{FF2B5EF4-FFF2-40B4-BE49-F238E27FC236}">
                  <a16:creationId xmlns:a16="http://schemas.microsoft.com/office/drawing/2014/main" id="{3A4D62B5-622A-8AAA-E377-2AB8989F0838}"/>
                </a:ext>
              </a:extLst>
            </p:cNvPr>
            <p:cNvSpPr/>
            <p:nvPr/>
          </p:nvSpPr>
          <p:spPr>
            <a:xfrm>
              <a:off x="8957266" y="4296803"/>
              <a:ext cx="275928" cy="281413"/>
            </a:xfrm>
            <a:prstGeom prst="cube">
              <a:avLst>
                <a:gd name="adj" fmla="val 24216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D588B978-550E-9D25-D822-D6740088C961}"/>
              </a:ext>
            </a:extLst>
          </p:cNvPr>
          <p:cNvGrpSpPr/>
          <p:nvPr/>
        </p:nvGrpSpPr>
        <p:grpSpPr>
          <a:xfrm>
            <a:off x="8736446" y="2525110"/>
            <a:ext cx="1469735" cy="1169554"/>
            <a:chOff x="8736447" y="3799990"/>
            <a:chExt cx="1469735" cy="1169554"/>
          </a:xfrm>
        </p:grpSpPr>
        <p:sp>
          <p:nvSpPr>
            <p:cNvPr id="52" name="直方体 51">
              <a:extLst>
                <a:ext uri="{FF2B5EF4-FFF2-40B4-BE49-F238E27FC236}">
                  <a16:creationId xmlns:a16="http://schemas.microsoft.com/office/drawing/2014/main" id="{9738AF30-6493-EE16-FBC8-51331C7E9AF8}"/>
                </a:ext>
              </a:extLst>
            </p:cNvPr>
            <p:cNvSpPr/>
            <p:nvPr/>
          </p:nvSpPr>
          <p:spPr>
            <a:xfrm>
              <a:off x="8736447" y="3799990"/>
              <a:ext cx="1469735" cy="1054833"/>
            </a:xfrm>
            <a:prstGeom prst="cube">
              <a:avLst>
                <a:gd name="adj" fmla="val 1735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53" name="グループ化 52">
              <a:extLst>
                <a:ext uri="{FF2B5EF4-FFF2-40B4-BE49-F238E27FC236}">
                  <a16:creationId xmlns:a16="http://schemas.microsoft.com/office/drawing/2014/main" id="{C5CFFFE4-A9ED-D2DC-4A64-65668CB06ED9}"/>
                </a:ext>
              </a:extLst>
            </p:cNvPr>
            <p:cNvGrpSpPr/>
            <p:nvPr/>
          </p:nvGrpSpPr>
          <p:grpSpPr>
            <a:xfrm>
              <a:off x="8851904" y="4130548"/>
              <a:ext cx="475674" cy="838996"/>
              <a:chOff x="8879612" y="2863273"/>
              <a:chExt cx="475674" cy="838996"/>
            </a:xfrm>
          </p:grpSpPr>
          <p:sp>
            <p:nvSpPr>
              <p:cNvPr id="58" name="直方体 57">
                <a:extLst>
                  <a:ext uri="{FF2B5EF4-FFF2-40B4-BE49-F238E27FC236}">
                    <a16:creationId xmlns:a16="http://schemas.microsoft.com/office/drawing/2014/main" id="{6C201912-F440-91B2-D666-AD46F423973D}"/>
                  </a:ext>
                </a:extLst>
              </p:cNvPr>
              <p:cNvSpPr/>
              <p:nvPr/>
            </p:nvSpPr>
            <p:spPr>
              <a:xfrm>
                <a:off x="8879612" y="3214255"/>
                <a:ext cx="475674" cy="488014"/>
              </a:xfrm>
              <a:prstGeom prst="cube">
                <a:avLst>
                  <a:gd name="adj" fmla="val 24216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9" name="正方形/長方形 58">
                <a:extLst>
                  <a:ext uri="{FF2B5EF4-FFF2-40B4-BE49-F238E27FC236}">
                    <a16:creationId xmlns:a16="http://schemas.microsoft.com/office/drawing/2014/main" id="{EE57D227-3DF5-DF4D-A886-15D5A703296A}"/>
                  </a:ext>
                </a:extLst>
              </p:cNvPr>
              <p:cNvSpPr/>
              <p:nvPr/>
            </p:nvSpPr>
            <p:spPr>
              <a:xfrm>
                <a:off x="8995644" y="2863273"/>
                <a:ext cx="359642" cy="35098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9DB2A4D1-3DF7-4095-C895-DF0484831AA2}"/>
                </a:ext>
              </a:extLst>
            </p:cNvPr>
            <p:cNvGrpSpPr/>
            <p:nvPr/>
          </p:nvGrpSpPr>
          <p:grpSpPr>
            <a:xfrm>
              <a:off x="9299868" y="4121312"/>
              <a:ext cx="475674" cy="838996"/>
              <a:chOff x="8879612" y="2863273"/>
              <a:chExt cx="475674" cy="838996"/>
            </a:xfrm>
          </p:grpSpPr>
          <p:sp>
            <p:nvSpPr>
              <p:cNvPr id="56" name="直方体 55">
                <a:extLst>
                  <a:ext uri="{FF2B5EF4-FFF2-40B4-BE49-F238E27FC236}">
                    <a16:creationId xmlns:a16="http://schemas.microsoft.com/office/drawing/2014/main" id="{BDAFA56F-B71E-C25F-3205-309D142F61E4}"/>
                  </a:ext>
                </a:extLst>
              </p:cNvPr>
              <p:cNvSpPr/>
              <p:nvPr/>
            </p:nvSpPr>
            <p:spPr>
              <a:xfrm>
                <a:off x="8879612" y="3214255"/>
                <a:ext cx="475674" cy="488014"/>
              </a:xfrm>
              <a:prstGeom prst="cube">
                <a:avLst>
                  <a:gd name="adj" fmla="val 24216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正方形/長方形 56">
                <a:extLst>
                  <a:ext uri="{FF2B5EF4-FFF2-40B4-BE49-F238E27FC236}">
                    <a16:creationId xmlns:a16="http://schemas.microsoft.com/office/drawing/2014/main" id="{EF5E1920-B462-1663-504C-1FD4D762D82C}"/>
                  </a:ext>
                </a:extLst>
              </p:cNvPr>
              <p:cNvSpPr/>
              <p:nvPr/>
            </p:nvSpPr>
            <p:spPr>
              <a:xfrm>
                <a:off x="8995644" y="2863273"/>
                <a:ext cx="359642" cy="35098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5" name="直方体 54">
              <a:extLst>
                <a:ext uri="{FF2B5EF4-FFF2-40B4-BE49-F238E27FC236}">
                  <a16:creationId xmlns:a16="http://schemas.microsoft.com/office/drawing/2014/main" id="{7A6A4958-5957-D882-093E-BFAABA4F27C5}"/>
                </a:ext>
              </a:extLst>
            </p:cNvPr>
            <p:cNvSpPr/>
            <p:nvPr/>
          </p:nvSpPr>
          <p:spPr>
            <a:xfrm>
              <a:off x="8957266" y="4296803"/>
              <a:ext cx="275928" cy="281413"/>
            </a:xfrm>
            <a:prstGeom prst="cube">
              <a:avLst>
                <a:gd name="adj" fmla="val 24216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E7950CC2-38D5-9129-697D-443F7B5ECB1F}"/>
              </a:ext>
            </a:extLst>
          </p:cNvPr>
          <p:cNvGrpSpPr/>
          <p:nvPr/>
        </p:nvGrpSpPr>
        <p:grpSpPr>
          <a:xfrm>
            <a:off x="8736446" y="5247537"/>
            <a:ext cx="1469735" cy="1169554"/>
            <a:chOff x="8736447" y="3799990"/>
            <a:chExt cx="1469735" cy="1169554"/>
          </a:xfrm>
        </p:grpSpPr>
        <p:sp>
          <p:nvSpPr>
            <p:cNvPr id="61" name="直方体 60">
              <a:extLst>
                <a:ext uri="{FF2B5EF4-FFF2-40B4-BE49-F238E27FC236}">
                  <a16:creationId xmlns:a16="http://schemas.microsoft.com/office/drawing/2014/main" id="{D60DACB1-2210-BE25-A06E-103819838619}"/>
                </a:ext>
              </a:extLst>
            </p:cNvPr>
            <p:cNvSpPr/>
            <p:nvPr/>
          </p:nvSpPr>
          <p:spPr>
            <a:xfrm>
              <a:off x="8736447" y="3799990"/>
              <a:ext cx="1469735" cy="1054833"/>
            </a:xfrm>
            <a:prstGeom prst="cube">
              <a:avLst>
                <a:gd name="adj" fmla="val 1735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2" name="グループ化 61">
              <a:extLst>
                <a:ext uri="{FF2B5EF4-FFF2-40B4-BE49-F238E27FC236}">
                  <a16:creationId xmlns:a16="http://schemas.microsoft.com/office/drawing/2014/main" id="{A530BB29-B5CF-E28E-2D2F-EF93AFA929FA}"/>
                </a:ext>
              </a:extLst>
            </p:cNvPr>
            <p:cNvGrpSpPr/>
            <p:nvPr/>
          </p:nvGrpSpPr>
          <p:grpSpPr>
            <a:xfrm>
              <a:off x="8851904" y="4130548"/>
              <a:ext cx="475674" cy="838996"/>
              <a:chOff x="8879612" y="2863273"/>
              <a:chExt cx="475674" cy="838996"/>
            </a:xfrm>
          </p:grpSpPr>
          <p:sp>
            <p:nvSpPr>
              <p:cNvPr id="67" name="直方体 66">
                <a:extLst>
                  <a:ext uri="{FF2B5EF4-FFF2-40B4-BE49-F238E27FC236}">
                    <a16:creationId xmlns:a16="http://schemas.microsoft.com/office/drawing/2014/main" id="{709421C0-2C30-F337-2FEF-02A2823E0D64}"/>
                  </a:ext>
                </a:extLst>
              </p:cNvPr>
              <p:cNvSpPr/>
              <p:nvPr/>
            </p:nvSpPr>
            <p:spPr>
              <a:xfrm>
                <a:off x="8879612" y="3214255"/>
                <a:ext cx="475674" cy="488014"/>
              </a:xfrm>
              <a:prstGeom prst="cube">
                <a:avLst>
                  <a:gd name="adj" fmla="val 24216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8" name="正方形/長方形 67">
                <a:extLst>
                  <a:ext uri="{FF2B5EF4-FFF2-40B4-BE49-F238E27FC236}">
                    <a16:creationId xmlns:a16="http://schemas.microsoft.com/office/drawing/2014/main" id="{C1383982-1869-BE30-156D-B5F723527239}"/>
                  </a:ext>
                </a:extLst>
              </p:cNvPr>
              <p:cNvSpPr/>
              <p:nvPr/>
            </p:nvSpPr>
            <p:spPr>
              <a:xfrm>
                <a:off x="8995644" y="2863273"/>
                <a:ext cx="359642" cy="35098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8A5E09BF-C9A3-5B4C-754D-A1DF146B33BB}"/>
                </a:ext>
              </a:extLst>
            </p:cNvPr>
            <p:cNvGrpSpPr/>
            <p:nvPr/>
          </p:nvGrpSpPr>
          <p:grpSpPr>
            <a:xfrm>
              <a:off x="9299868" y="4121312"/>
              <a:ext cx="475674" cy="838996"/>
              <a:chOff x="8879612" y="2863273"/>
              <a:chExt cx="475674" cy="838996"/>
            </a:xfrm>
          </p:grpSpPr>
          <p:sp>
            <p:nvSpPr>
              <p:cNvPr id="65" name="直方体 64">
                <a:extLst>
                  <a:ext uri="{FF2B5EF4-FFF2-40B4-BE49-F238E27FC236}">
                    <a16:creationId xmlns:a16="http://schemas.microsoft.com/office/drawing/2014/main" id="{BDE463F4-13DE-8BC6-EED0-0384B267F23A}"/>
                  </a:ext>
                </a:extLst>
              </p:cNvPr>
              <p:cNvSpPr/>
              <p:nvPr/>
            </p:nvSpPr>
            <p:spPr>
              <a:xfrm>
                <a:off x="8879612" y="3214255"/>
                <a:ext cx="475674" cy="488014"/>
              </a:xfrm>
              <a:prstGeom prst="cube">
                <a:avLst>
                  <a:gd name="adj" fmla="val 24216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6" name="正方形/長方形 65">
                <a:extLst>
                  <a:ext uri="{FF2B5EF4-FFF2-40B4-BE49-F238E27FC236}">
                    <a16:creationId xmlns:a16="http://schemas.microsoft.com/office/drawing/2014/main" id="{C992C307-BC9E-3CC2-9EB4-7E27A0AF9DD4}"/>
                  </a:ext>
                </a:extLst>
              </p:cNvPr>
              <p:cNvSpPr/>
              <p:nvPr/>
            </p:nvSpPr>
            <p:spPr>
              <a:xfrm>
                <a:off x="8995644" y="2863273"/>
                <a:ext cx="359642" cy="35098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64" name="直方体 63">
              <a:extLst>
                <a:ext uri="{FF2B5EF4-FFF2-40B4-BE49-F238E27FC236}">
                  <a16:creationId xmlns:a16="http://schemas.microsoft.com/office/drawing/2014/main" id="{3ADBC9A7-7938-30E1-7C3F-A62CD0A7E535}"/>
                </a:ext>
              </a:extLst>
            </p:cNvPr>
            <p:cNvSpPr/>
            <p:nvPr/>
          </p:nvSpPr>
          <p:spPr>
            <a:xfrm>
              <a:off x="8957266" y="4296803"/>
              <a:ext cx="275928" cy="281413"/>
            </a:xfrm>
            <a:prstGeom prst="cube">
              <a:avLst>
                <a:gd name="adj" fmla="val 24216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0894B24A-57D4-0AD0-2CB3-34B7E738B89C}"/>
              </a:ext>
            </a:extLst>
          </p:cNvPr>
          <p:cNvCxnSpPr>
            <a:cxnSpLocks/>
          </p:cNvCxnSpPr>
          <p:nvPr/>
        </p:nvCxnSpPr>
        <p:spPr>
          <a:xfrm>
            <a:off x="3460989" y="4340862"/>
            <a:ext cx="1402773" cy="0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EBA6FD02-17E0-C16E-3D8B-5C9A0BC43FD0}"/>
              </a:ext>
            </a:extLst>
          </p:cNvPr>
          <p:cNvCxnSpPr>
            <a:cxnSpLocks/>
          </p:cNvCxnSpPr>
          <p:nvPr/>
        </p:nvCxnSpPr>
        <p:spPr>
          <a:xfrm>
            <a:off x="6042233" y="4265080"/>
            <a:ext cx="1423555" cy="0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B90D21FF-A332-FA06-CE00-070D2945E242}"/>
              </a:ext>
            </a:extLst>
          </p:cNvPr>
          <p:cNvSpPr txBox="1"/>
          <p:nvPr/>
        </p:nvSpPr>
        <p:spPr>
          <a:xfrm>
            <a:off x="3625536" y="3567341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搬送指示</a:t>
            </a:r>
            <a:endParaRPr kumimoji="1" lang="en-US" altLang="ja-JP"/>
          </a:p>
          <a:p>
            <a:r>
              <a:rPr kumimoji="1" lang="ja-JP" altLang="en-US"/>
              <a:t>払出完了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DE316155-FAAA-2BB3-FDFE-7A3683410DB2}"/>
              </a:ext>
            </a:extLst>
          </p:cNvPr>
          <p:cNvSpPr txBox="1"/>
          <p:nvPr/>
        </p:nvSpPr>
        <p:spPr>
          <a:xfrm>
            <a:off x="5502547" y="2657053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搬送指示</a:t>
            </a:r>
            <a:endParaRPr kumimoji="1" lang="en-US" altLang="ja-JP"/>
          </a:p>
          <a:p>
            <a:r>
              <a:rPr kumimoji="1" lang="ja-JP" altLang="en-US"/>
              <a:t>払出完了</a:t>
            </a:r>
          </a:p>
        </p:txBody>
      </p: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0FE873AD-EDEE-7521-5270-23A76230CE72}"/>
              </a:ext>
            </a:extLst>
          </p:cNvPr>
          <p:cNvCxnSpPr>
            <a:cxnSpLocks/>
          </p:cNvCxnSpPr>
          <p:nvPr/>
        </p:nvCxnSpPr>
        <p:spPr>
          <a:xfrm flipH="1">
            <a:off x="6018644" y="4466976"/>
            <a:ext cx="1423555" cy="0"/>
          </a:xfrm>
          <a:prstGeom prst="line">
            <a:avLst/>
          </a:prstGeom>
          <a:ln w="57150">
            <a:solidFill>
              <a:schemeClr val="accent3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313C5FC4-AD0B-00B7-DF27-F50E7FA3DE40}"/>
              </a:ext>
            </a:extLst>
          </p:cNvPr>
          <p:cNvCxnSpPr>
            <a:cxnSpLocks/>
          </p:cNvCxnSpPr>
          <p:nvPr/>
        </p:nvCxnSpPr>
        <p:spPr>
          <a:xfrm flipH="1">
            <a:off x="3413991" y="4530859"/>
            <a:ext cx="1423555" cy="0"/>
          </a:xfrm>
          <a:prstGeom prst="line">
            <a:avLst/>
          </a:prstGeom>
          <a:ln w="57150">
            <a:solidFill>
              <a:schemeClr val="accent3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427D58BB-BA04-8BA1-37D2-4C3A9BDCF890}"/>
              </a:ext>
            </a:extLst>
          </p:cNvPr>
          <p:cNvSpPr txBox="1"/>
          <p:nvPr/>
        </p:nvSpPr>
        <p:spPr>
          <a:xfrm>
            <a:off x="5502256" y="537943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搬送状態</a:t>
            </a:r>
            <a:endParaRPr kumimoji="1" lang="en-US" altLang="ja-JP"/>
          </a:p>
          <a:p>
            <a:r>
              <a:rPr kumimoji="1" lang="ja-JP" altLang="en-US"/>
              <a:t>異常状態</a:t>
            </a:r>
            <a:endParaRPr kumimoji="1" lang="en-US" altLang="ja-JP"/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141735D7-FC25-75C7-B6D0-EF861B698156}"/>
              </a:ext>
            </a:extLst>
          </p:cNvPr>
          <p:cNvSpPr txBox="1"/>
          <p:nvPr/>
        </p:nvSpPr>
        <p:spPr>
          <a:xfrm>
            <a:off x="3262138" y="4867914"/>
            <a:ext cx="15696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搬送指示情報</a:t>
            </a:r>
            <a:endParaRPr kumimoji="1" lang="en-US" altLang="ja-JP"/>
          </a:p>
          <a:p>
            <a:r>
              <a:rPr kumimoji="1" lang="ja-JP" altLang="en-US"/>
              <a:t>設備状態</a:t>
            </a:r>
            <a:endParaRPr kumimoji="1" lang="en-US" altLang="ja-JP"/>
          </a:p>
          <a:p>
            <a:r>
              <a:rPr kumimoji="1" lang="ja-JP" altLang="en-US"/>
              <a:t>在庫情報</a:t>
            </a:r>
          </a:p>
          <a:p>
            <a:endParaRPr kumimoji="1" lang="en-US" altLang="ja-JP"/>
          </a:p>
        </p:txBody>
      </p: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A5BA368B-4277-DF9A-5CF7-1953943CDA03}"/>
              </a:ext>
            </a:extLst>
          </p:cNvPr>
          <p:cNvCxnSpPr>
            <a:cxnSpLocks/>
          </p:cNvCxnSpPr>
          <p:nvPr/>
        </p:nvCxnSpPr>
        <p:spPr>
          <a:xfrm flipV="1">
            <a:off x="6027895" y="2882423"/>
            <a:ext cx="1164714" cy="866699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DEF6C925-4A65-EC0B-146F-9724F85E50BD}"/>
              </a:ext>
            </a:extLst>
          </p:cNvPr>
          <p:cNvCxnSpPr>
            <a:cxnSpLocks/>
          </p:cNvCxnSpPr>
          <p:nvPr/>
        </p:nvCxnSpPr>
        <p:spPr>
          <a:xfrm flipH="1">
            <a:off x="6053610" y="3192544"/>
            <a:ext cx="1081000" cy="813258"/>
          </a:xfrm>
          <a:prstGeom prst="line">
            <a:avLst/>
          </a:prstGeom>
          <a:ln w="57150">
            <a:solidFill>
              <a:schemeClr val="accent3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4277A6AE-9E3E-89D9-4709-F2FB43EC6314}"/>
              </a:ext>
            </a:extLst>
          </p:cNvPr>
          <p:cNvCxnSpPr>
            <a:cxnSpLocks/>
          </p:cNvCxnSpPr>
          <p:nvPr/>
        </p:nvCxnSpPr>
        <p:spPr>
          <a:xfrm>
            <a:off x="6074399" y="4726813"/>
            <a:ext cx="1233874" cy="704169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直線コネクタ 112">
            <a:extLst>
              <a:ext uri="{FF2B5EF4-FFF2-40B4-BE49-F238E27FC236}">
                <a16:creationId xmlns:a16="http://schemas.microsoft.com/office/drawing/2014/main" id="{0E5D8B8B-4967-7893-DE2A-EB54CC30FD0D}"/>
              </a:ext>
            </a:extLst>
          </p:cNvPr>
          <p:cNvCxnSpPr>
            <a:cxnSpLocks/>
          </p:cNvCxnSpPr>
          <p:nvPr/>
        </p:nvCxnSpPr>
        <p:spPr>
          <a:xfrm flipH="1" flipV="1">
            <a:off x="6021339" y="4909640"/>
            <a:ext cx="1196880" cy="731521"/>
          </a:xfrm>
          <a:prstGeom prst="line">
            <a:avLst/>
          </a:prstGeom>
          <a:ln w="57150">
            <a:solidFill>
              <a:schemeClr val="accent3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06E2F2E4-DBBB-CF8C-A398-35DD1C908958}"/>
              </a:ext>
            </a:extLst>
          </p:cNvPr>
          <p:cNvSpPr txBox="1"/>
          <p:nvPr/>
        </p:nvSpPr>
        <p:spPr>
          <a:xfrm>
            <a:off x="10272855" y="282321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/>
              <a:t>保管設備１</a:t>
            </a:r>
          </a:p>
        </p:txBody>
      </p: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8A245D56-3847-D3D5-EE91-C072A895BC0E}"/>
              </a:ext>
            </a:extLst>
          </p:cNvPr>
          <p:cNvSpPr txBox="1"/>
          <p:nvPr/>
        </p:nvSpPr>
        <p:spPr>
          <a:xfrm>
            <a:off x="10360255" y="415619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/>
              <a:t>保管設備２</a:t>
            </a:r>
          </a:p>
        </p:txBody>
      </p: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D7278447-A0F5-1770-5340-CCB40D64E2F2}"/>
              </a:ext>
            </a:extLst>
          </p:cNvPr>
          <p:cNvSpPr txBox="1"/>
          <p:nvPr/>
        </p:nvSpPr>
        <p:spPr>
          <a:xfrm>
            <a:off x="10360255" y="551572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/>
              <a:t>保管設備３</a:t>
            </a:r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785C4FB6-4757-4A8E-7D21-CB127F46BB9A}"/>
              </a:ext>
            </a:extLst>
          </p:cNvPr>
          <p:cNvSpPr txBox="1"/>
          <p:nvPr/>
        </p:nvSpPr>
        <p:spPr>
          <a:xfrm>
            <a:off x="4910648" y="341145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/>
              <a:t>サーバー</a:t>
            </a:r>
            <a:endParaRPr kumimoji="1" lang="en-US" altLang="ja-JP" b="1"/>
          </a:p>
          <a:p>
            <a:pPr algn="ctr"/>
            <a:r>
              <a:rPr kumimoji="1" lang="en-US" altLang="ja-JP" b="1"/>
              <a:t>PC</a:t>
            </a:r>
            <a:endParaRPr kumimoji="1" lang="ja-JP" altLang="en-US" b="1"/>
          </a:p>
        </p:txBody>
      </p: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C399F293-40EB-9B99-C5ED-4B0BA7E979A8}"/>
              </a:ext>
            </a:extLst>
          </p:cNvPr>
          <p:cNvSpPr txBox="1"/>
          <p:nvPr/>
        </p:nvSpPr>
        <p:spPr>
          <a:xfrm>
            <a:off x="2446421" y="36046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/>
              <a:t>スマホ</a:t>
            </a:r>
          </a:p>
        </p:txBody>
      </p:sp>
      <p:sp>
        <p:nvSpPr>
          <p:cNvPr id="121" name="テキスト ボックス 120">
            <a:extLst>
              <a:ext uri="{FF2B5EF4-FFF2-40B4-BE49-F238E27FC236}">
                <a16:creationId xmlns:a16="http://schemas.microsoft.com/office/drawing/2014/main" id="{102E4C2D-4002-A429-1068-B3A47BCB63C7}"/>
              </a:ext>
            </a:extLst>
          </p:cNvPr>
          <p:cNvSpPr txBox="1"/>
          <p:nvPr/>
        </p:nvSpPr>
        <p:spPr>
          <a:xfrm>
            <a:off x="629696" y="3351965"/>
            <a:ext cx="180049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＜送信＞</a:t>
            </a:r>
            <a:endParaRPr kumimoji="1" lang="en-US" altLang="ja-JP"/>
          </a:p>
          <a:p>
            <a:r>
              <a:rPr kumimoji="1" lang="ja-JP" altLang="en-US"/>
              <a:t>・搬送指示</a:t>
            </a:r>
            <a:endParaRPr kumimoji="1" lang="en-US" altLang="ja-JP"/>
          </a:p>
          <a:p>
            <a:r>
              <a:rPr kumimoji="1" lang="ja-JP" altLang="en-US"/>
              <a:t>・払出完了</a:t>
            </a:r>
            <a:endParaRPr kumimoji="1" lang="en-US" altLang="ja-JP"/>
          </a:p>
          <a:p>
            <a:endParaRPr kumimoji="1" lang="en-US" altLang="ja-JP"/>
          </a:p>
          <a:p>
            <a:r>
              <a:rPr kumimoji="1" lang="ja-JP" altLang="en-US"/>
              <a:t>＜表示＞</a:t>
            </a:r>
            <a:endParaRPr kumimoji="1" lang="en-US" altLang="ja-JP"/>
          </a:p>
          <a:p>
            <a:r>
              <a:rPr kumimoji="1" lang="ja-JP" altLang="en-US"/>
              <a:t>・搬送指示一覧</a:t>
            </a:r>
            <a:endParaRPr kumimoji="1" lang="en-US" altLang="ja-JP"/>
          </a:p>
          <a:p>
            <a:r>
              <a:rPr kumimoji="1" lang="ja-JP" altLang="en-US"/>
              <a:t>・在庫一覧</a:t>
            </a:r>
            <a:endParaRPr kumimoji="1" lang="en-US" altLang="ja-JP"/>
          </a:p>
          <a:p>
            <a:r>
              <a:rPr kumimoji="1" lang="ja-JP" altLang="en-US"/>
              <a:t>・設備状態</a:t>
            </a:r>
            <a:endParaRPr kumimoji="1" lang="en-US" altLang="ja-JP"/>
          </a:p>
          <a:p>
            <a:endParaRPr kumimoji="1" lang="ja-JP" altLang="en-US"/>
          </a:p>
        </p:txBody>
      </p: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050D716C-43EE-467C-3395-DB4EBF67B1FA}"/>
              </a:ext>
            </a:extLst>
          </p:cNvPr>
          <p:cNvSpPr txBox="1"/>
          <p:nvPr/>
        </p:nvSpPr>
        <p:spPr>
          <a:xfrm>
            <a:off x="7576565" y="2312485"/>
            <a:ext cx="891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/>
              <a:t>設備</a:t>
            </a:r>
            <a:r>
              <a:rPr kumimoji="1" lang="en-US" altLang="ja-JP" b="1"/>
              <a:t>PC</a:t>
            </a:r>
            <a:endParaRPr kumimoji="1" lang="ja-JP" altLang="en-US" b="1"/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251721F7-4A41-CBDB-422B-2F2EDD06A1C5}"/>
              </a:ext>
            </a:extLst>
          </p:cNvPr>
          <p:cNvSpPr txBox="1"/>
          <p:nvPr/>
        </p:nvSpPr>
        <p:spPr>
          <a:xfrm>
            <a:off x="7576565" y="3645263"/>
            <a:ext cx="891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/>
              <a:t>設備</a:t>
            </a:r>
            <a:r>
              <a:rPr kumimoji="1" lang="en-US" altLang="ja-JP" b="1"/>
              <a:t>PC</a:t>
            </a:r>
            <a:endParaRPr kumimoji="1" lang="ja-JP" altLang="en-US" b="1"/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CA5B80ED-6D77-C303-21FE-1A49D05ABE19}"/>
              </a:ext>
            </a:extLst>
          </p:cNvPr>
          <p:cNvSpPr txBox="1"/>
          <p:nvPr/>
        </p:nvSpPr>
        <p:spPr>
          <a:xfrm>
            <a:off x="7579638" y="5043432"/>
            <a:ext cx="891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b="1"/>
              <a:t>設備</a:t>
            </a:r>
            <a:r>
              <a:rPr kumimoji="1" lang="en-US" altLang="ja-JP" b="1"/>
              <a:t>PC</a:t>
            </a:r>
            <a:endParaRPr kumimoji="1" lang="ja-JP" altLang="en-US" b="1"/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290B6354-F661-0B5D-71D8-B126B08E020D}"/>
              </a:ext>
            </a:extLst>
          </p:cNvPr>
          <p:cNvSpPr/>
          <p:nvPr/>
        </p:nvSpPr>
        <p:spPr>
          <a:xfrm>
            <a:off x="9299867" y="1022471"/>
            <a:ext cx="2311816" cy="1304954"/>
          </a:xfrm>
          <a:prstGeom prst="wedgeRoundRectCallout">
            <a:avLst>
              <a:gd name="adj1" fmla="val -37464"/>
              <a:gd name="adj2" fmla="val 7701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600"/>
              <a:t>収納：</a:t>
            </a:r>
            <a:r>
              <a:rPr kumimoji="1" lang="en-US" altLang="ja-JP" sz="1600"/>
              <a:t>6</a:t>
            </a:r>
            <a:r>
              <a:rPr lang="ja-JP" altLang="ja-JP" sz="1600"/>
              <a:t>棚</a:t>
            </a:r>
            <a:r>
              <a:rPr kumimoji="1" lang="en-US" altLang="ja-JP" sz="1600"/>
              <a:t>(2</a:t>
            </a:r>
            <a:r>
              <a:rPr kumimoji="1" lang="ja-JP" altLang="en-US" sz="1600"/>
              <a:t>列</a:t>
            </a:r>
            <a:r>
              <a:rPr kumimoji="1" lang="en-US" altLang="ja-JP" sz="1600"/>
              <a:t>3</a:t>
            </a:r>
            <a:r>
              <a:rPr kumimoji="1" lang="ja-JP" altLang="en-US" sz="1600"/>
              <a:t>段</a:t>
            </a:r>
            <a:r>
              <a:rPr kumimoji="1" lang="en-US" altLang="ja-JP" sz="1600"/>
              <a:t>)</a:t>
            </a:r>
          </a:p>
          <a:p>
            <a:pPr algn="ctr"/>
            <a:r>
              <a:rPr kumimoji="1" lang="ja-JP" altLang="en-US" sz="1600"/>
              <a:t>搬送ロボット：１台</a:t>
            </a:r>
            <a:endParaRPr kumimoji="1" lang="en-US" altLang="ja-JP" sz="1600"/>
          </a:p>
          <a:p>
            <a:pPr algn="ctr"/>
            <a:r>
              <a:rPr kumimoji="1" lang="ja-JP" altLang="en-US" sz="1600"/>
              <a:t>入庫口：１か所</a:t>
            </a:r>
            <a:endParaRPr kumimoji="1" lang="en-US" altLang="ja-JP" sz="1600"/>
          </a:p>
          <a:p>
            <a:pPr algn="ctr"/>
            <a:r>
              <a:rPr kumimoji="1" lang="ja-JP" altLang="en-US" sz="1600"/>
              <a:t>出庫口：１か所</a:t>
            </a:r>
          </a:p>
        </p:txBody>
      </p:sp>
    </p:spTree>
    <p:extLst>
      <p:ext uri="{BB962C8B-B14F-4D97-AF65-F5344CB8AC3E}">
        <p14:creationId xmlns:p14="http://schemas.microsoft.com/office/powerpoint/2010/main" val="3634238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C5E7-E677-9150-3438-76686FB27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D378D68-9D5B-716A-44D0-21EB873EA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964583CD-03F4-45F3-8C39-5C844793DF62}" type="slidenum">
              <a:rPr lang="en-US" altLang="ja-JP" smtClean="0"/>
              <a:pPr>
                <a:defRPr/>
              </a:pPr>
              <a:t>3</a:t>
            </a:fld>
            <a:endParaRPr lang="en-US" altLang="ja-JP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D4013466-EEAA-77B5-370E-3CD9645E8F1F}"/>
              </a:ext>
            </a:extLst>
          </p:cNvPr>
          <p:cNvSpPr txBox="1">
            <a:spLocks/>
          </p:cNvSpPr>
          <p:nvPr/>
        </p:nvSpPr>
        <p:spPr>
          <a:xfrm>
            <a:off x="899950" y="94682"/>
            <a:ext cx="7632848" cy="48952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240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3B1379-165D-732C-7739-6D2AD260361E}"/>
              </a:ext>
            </a:extLst>
          </p:cNvPr>
          <p:cNvSpPr txBox="1"/>
          <p:nvPr/>
        </p:nvSpPr>
        <p:spPr>
          <a:xfrm>
            <a:off x="489198" y="1154337"/>
            <a:ext cx="1080427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>
                <a:latin typeface="+mn-ea"/>
              </a:rPr>
              <a:t>学んだこと</a:t>
            </a:r>
            <a:endParaRPr lang="en-US" altLang="ja-JP" sz="2000" b="1"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ja-JP" sz="2000" b="1"/>
              <a:t>設計資料</a:t>
            </a:r>
            <a:r>
              <a:rPr lang="ja-JP" altLang="en-US" sz="2000" b="1"/>
              <a:t>・</a:t>
            </a:r>
            <a:r>
              <a:rPr lang="ja-JP" altLang="ja-JP" sz="2000" b="1"/>
              <a:t>情報共有の重要性</a:t>
            </a:r>
            <a:endParaRPr lang="en-US" altLang="ja-JP" sz="2000" b="1"/>
          </a:p>
          <a:p>
            <a:pPr lvl="1"/>
            <a:r>
              <a:rPr lang="ja-JP" altLang="ja-JP" sz="2000"/>
              <a:t>API仕様やデータ定義、状態値などを設計資料として明確にし、</a:t>
            </a:r>
            <a:br>
              <a:rPr lang="ja-JP" altLang="ja-JP" sz="2000"/>
            </a:br>
            <a:r>
              <a:rPr lang="ja-JP" altLang="ja-JP" sz="2000"/>
              <a:t>チーム全員で共有することが、手戻りの削減につながると</a:t>
            </a:r>
            <a:r>
              <a:rPr lang="ja-JP" altLang="en-US" sz="2000"/>
              <a:t>学んだ。</a:t>
            </a:r>
            <a:endParaRPr lang="en-US" altLang="ja-JP" sz="2000"/>
          </a:p>
          <a:p>
            <a:pPr lvl="1"/>
            <a:endParaRPr lang="en-US" altLang="ja-JP" sz="2000">
              <a:latin typeface="+mn-ea"/>
            </a:endParaRPr>
          </a:p>
          <a:p>
            <a:r>
              <a:rPr lang="ja-JP" altLang="en-US" sz="2000" b="1">
                <a:latin typeface="+mn-ea"/>
              </a:rPr>
              <a:t>反省点</a:t>
            </a:r>
            <a:endParaRPr lang="en-US" altLang="ja-JP" sz="2000" b="1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ja-JP" sz="2000" b="1"/>
              <a:t>通信方式の検討</a:t>
            </a:r>
            <a:r>
              <a:rPr lang="ja-JP" altLang="en-US" sz="2000" b="1"/>
              <a:t>不足</a:t>
            </a:r>
            <a:endParaRPr lang="en-US" altLang="ja-JP" sz="2000" b="1">
              <a:latin typeface="+mn-ea"/>
            </a:endParaRPr>
          </a:p>
          <a:p>
            <a:pPr lvl="1"/>
            <a:r>
              <a:rPr lang="ja-JP" altLang="ja-JP" sz="2000"/>
              <a:t>当初は、サーバーからスマホ画面へPOSTして通知する</a:t>
            </a:r>
            <a:r>
              <a:rPr lang="en-US" altLang="ja-JP" sz="2000"/>
              <a:t>API</a:t>
            </a:r>
            <a:r>
              <a:rPr lang="ja-JP" altLang="en-US" sz="2000"/>
              <a:t>があった</a:t>
            </a:r>
            <a:r>
              <a:rPr lang="ja-JP" altLang="ja-JP" sz="2000"/>
              <a:t>。</a:t>
            </a:r>
            <a:br>
              <a:rPr lang="ja-JP" altLang="ja-JP" sz="2000"/>
            </a:br>
            <a:r>
              <a:rPr lang="ja-JP" altLang="ja-JP" sz="2000"/>
              <a:t>しかし実装を進める中で、通常のWeb画面は</a:t>
            </a:r>
            <a:endParaRPr lang="en-US" altLang="ja-JP" sz="2000"/>
          </a:p>
          <a:p>
            <a:pPr lvl="1"/>
            <a:r>
              <a:rPr lang="ja-JP" altLang="ja-JP" sz="2000"/>
              <a:t>サーバーから直接POSTを受け取ることができず、</a:t>
            </a:r>
            <a:br>
              <a:rPr lang="ja-JP" altLang="ja-JP" sz="2000"/>
            </a:br>
            <a:r>
              <a:rPr lang="ja-JP" altLang="ja-JP" sz="2000"/>
              <a:t>スマホ側からサーバーへ</a:t>
            </a:r>
            <a:r>
              <a:rPr lang="ja-JP" altLang="en-US" sz="2000"/>
              <a:t>情報</a:t>
            </a:r>
            <a:r>
              <a:rPr lang="ja-JP" altLang="ja-JP" sz="2000"/>
              <a:t>取得する必要があることに気付</a:t>
            </a:r>
            <a:r>
              <a:rPr lang="ja-JP" altLang="en-US" sz="2000"/>
              <a:t>いた</a:t>
            </a:r>
            <a:r>
              <a:rPr lang="ja-JP" altLang="ja-JP" sz="2000"/>
              <a:t>。</a:t>
            </a:r>
            <a:endParaRPr lang="en-US" altLang="ja-JP" sz="2000"/>
          </a:p>
          <a:p>
            <a:pPr lvl="1"/>
            <a:r>
              <a:rPr lang="ja-JP" altLang="en-US" sz="2000"/>
              <a:t>基本設計段階で</a:t>
            </a:r>
            <a:r>
              <a:rPr lang="ja-JP" altLang="ja-JP" sz="2000"/>
              <a:t>もう少し詳しく調査しておく必要</a:t>
            </a:r>
            <a:r>
              <a:rPr lang="ja-JP" altLang="en-US" sz="2000"/>
              <a:t>があった。</a:t>
            </a:r>
            <a:br>
              <a:rPr lang="ja-JP" altLang="ja-JP" sz="2000"/>
            </a:br>
            <a:endParaRPr lang="en-US" altLang="ja-JP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19406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Application>Microsoft Office PowerPoint</Application>
  <PresentationFormat>Widescreen</PresentationFormat>
  <Slides>3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2013 - 2022 テーマ</vt:lpstr>
      <vt:lpstr>  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御提案書</dc:title>
  <dc:creator>越智孝洋</dc:creator>
  <cp:revision>1</cp:revision>
  <dcterms:created xsi:type="dcterms:W3CDTF">2023-03-28T22:29:39Z</dcterms:created>
  <dcterms:modified xsi:type="dcterms:W3CDTF">2026-06-29T07:26:16Z</dcterms:modified>
</cp:coreProperties>
</file>